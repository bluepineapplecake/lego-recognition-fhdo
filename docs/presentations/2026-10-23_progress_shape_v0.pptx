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6bce8f0-2bb2-61ed-ff4a-43c9b0d81e0c}">
          <p14:sldIdLst>
            <p14:sldId id="256"/>
          </p14:sldIdLst>
        </p14:section>
        <p14:section name="Setup and baseline" id="{6f33a436-d3e5-1b1c-2bd9-ca5f7c71af3f}">
          <p14:sldIdLst>
            <p14:sldId id="257"/>
            <p14:sldId id="258"/>
          </p14:sldIdLst>
        </p14:section>
        <p14:section name="Error analysis" id="{3374d702-c2e2-0bca-432a-c663ae25fc18}">
          <p14:sldIdLst>
            <p14:sldId id="259"/>
            <p14:sldId id="260"/>
            <p14:sldId id="261"/>
          </p14:sldIdLst>
        </p14:section>
        <p14:section name="Next steps" id="{17c028b5-114b-3492-1be0-9fe58fd0a513}">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Different length</c:v>
                </c:pt>
              </c:strCache>
            </c:strRef>
          </c:tx>
          <c:spPr>
            <a:solidFill>
              <a:srgbClr val="D62828"/>
            </a:solidFill>
            <a:effectLst/>
          </c:spPr>
          <c:invertIfNegative val="0"/>
          <c:dLbls>
            <c:numFmt formatCode="0;;;" sourceLinked="0"/>
            <c:txPr>
              <a:bodyPr/>
              <a:lstStyle/>
              <a:p>
                <a:pPr>
                  <a:defRPr b="1"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Plate 2×2 ↔ 2×2 with 2 studs</c:v>
                  </c:pt>
                  <c:pt idx="1">
                    <c:v>Brick 1×4 ↔ 1×3</c:v>
                  </c:pt>
                  <c:pt idx="2">
                    <c:v>Roof 2×2 ↔ 2×3</c:v>
                  </c:pt>
                  <c:pt idx="3">
                    <c:v>Roof 1×4 ↔ 2×3</c:v>
                  </c:pt>
                  <c:pt idx="4">
                    <c:v>Brick 2×4 ↔ 2×3</c:v>
                  </c:pt>
                  <c:pt idx="5">
                    <c:v>Tile 1×2 ↔ 1×1</c:v>
                  </c:pt>
                </c:lvl>
              </c:multiLvlStrCache>
            </c:multiLvlStrRef>
          </c:cat>
          <c:val>
            <c:numRef>
              <c:f>Sheet1!$B$2:$B$7</c:f>
              <c:numCache>
                <c:formatCode>General</c:formatCode>
                <c:ptCount val="6"/>
                <c:pt idx="0">
                  <c:v>0</c:v>
                </c:pt>
                <c:pt idx="1">
                  <c:v>12</c:v>
                </c:pt>
                <c:pt idx="2">
                  <c:v>12</c:v>
                </c:pt>
                <c:pt idx="3">
                  <c:v>12</c:v>
                </c:pt>
                <c:pt idx="4">
                  <c:v>10</c:v>
                </c:pt>
                <c:pt idx="5">
                  <c:v>10</c:v>
                </c:pt>
              </c:numCache>
            </c:numRef>
          </c:val>
        </c:ser>
        <c:ser>
          <c:idx val="1"/>
          <c:order val="1"/>
          <c:tx>
            <c:strRef>
              <c:f>Sheet1!$C$1</c:f>
              <c:strCache>
                <c:ptCount val="1"/>
                <c:pt idx="0">
                  <c:v>Other</c:v>
                </c:pt>
              </c:strCache>
            </c:strRef>
          </c:tx>
          <c:spPr>
            <a:solidFill>
              <a:srgbClr val="B8C1CA"/>
            </a:solidFill>
            <a:effectLst/>
          </c:spPr>
          <c:invertIfNegative val="0"/>
          <c:dLbls>
            <c:numFmt formatCode="0;;;" sourceLinked="0"/>
            <c:txPr>
              <a:bodyPr/>
              <a:lstStyle/>
              <a:p>
                <a:pPr>
                  <a:defRPr b="1"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Plate 2×2 ↔ 2×2 with 2 studs</c:v>
                  </c:pt>
                  <c:pt idx="1">
                    <c:v>Brick 1×4 ↔ 1×3</c:v>
                  </c:pt>
                  <c:pt idx="2">
                    <c:v>Roof 2×2 ↔ 2×3</c:v>
                  </c:pt>
                  <c:pt idx="3">
                    <c:v>Roof 1×4 ↔ 2×3</c:v>
                  </c:pt>
                  <c:pt idx="4">
                    <c:v>Brick 2×4 ↔ 2×3</c:v>
                  </c:pt>
                  <c:pt idx="5">
                    <c:v>Tile 1×2 ↔ 1×1</c:v>
                  </c:pt>
                </c:lvl>
              </c:multiLvlStrCache>
            </c:multiLvlStrRef>
          </c:cat>
          <c:val>
            <c:numRef>
              <c:f>Sheet1!$C$2:$C$7</c:f>
              <c:numCache>
                <c:formatCode>General</c:formatCode>
                <c:ptCount val="6"/>
                <c:pt idx="0">
                  <c:v>13</c:v>
                </c:pt>
                <c:pt idx="1">
                  <c:v>0</c:v>
                </c:pt>
                <c:pt idx="2">
                  <c:v>0</c:v>
                </c:pt>
                <c:pt idx="3">
                  <c:v>0</c:v>
                </c:pt>
                <c:pt idx="4">
                  <c:v>0</c:v>
                </c:pt>
                <c:pt idx="5">
                  <c:v>0</c:v>
                </c:pt>
              </c:numCache>
            </c:numRef>
          </c:val>
        </c:ser>
        <c:dLbls>
          <c:numFmt formatCode="0;;;" sourceLinked="0"/>
          <c:txPr>
            <a:bodyPr/>
            <a:lstStyle/>
            <a:p>
              <a:pPr>
                <a:defRPr b="1"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E253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E25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Baseline (same config, 3 runs)</c:v>
                </c:pt>
              </c:strCache>
            </c:strRef>
          </c:tx>
          <c:spPr>
            <a:solidFill>
              <a:srgbClr val="B8C1CA"/>
            </a:solidFill>
            <a:effectLst/>
          </c:spPr>
          <c:invertIfNegative val="0"/>
          <c:dLbls>
            <c:numFmt formatCode="0;;;" sourceLinked="0"/>
            <c:txPr>
              <a:bodyPr/>
              <a:lstStyle/>
              <a:p>
                <a:pPr>
                  <a:defRPr b="1"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Sheet1!$A$2:$A$5</c:f>
              <c:multiLvlStrCache>
                <c:ptCount val="4"/>
                <c:lvl>
                  <c:pt idx="0">
                    <c:v>Baseline run A</c:v>
                  </c:pt>
                  <c:pt idx="1">
                    <c:v>Baseline run B</c:v>
                  </c:pt>
                  <c:pt idx="2">
                    <c:v>Baseline run C</c:v>
                  </c:pt>
                  <c:pt idx="3">
                    <c:v>With size</c:v>
                  </c:pt>
                </c:lvl>
              </c:multiLvlStrCache>
            </c:multiLvlStrRef>
          </c:cat>
          <c:val>
            <c:numRef>
              <c:f>Sheet1!$B$2:$B$5</c:f>
              <c:numCache>
                <c:formatCode>General</c:formatCode>
                <c:ptCount val="4"/>
                <c:pt idx="0">
                  <c:v>115</c:v>
                </c:pt>
                <c:pt idx="1">
                  <c:v>81</c:v>
                </c:pt>
                <c:pt idx="2">
                  <c:v>83</c:v>
                </c:pt>
                <c:pt idx="3">
                  <c:v>0</c:v>
                </c:pt>
              </c:numCache>
            </c:numRef>
          </c:val>
        </c:ser>
        <c:ser>
          <c:idx val="1"/>
          <c:order val="1"/>
          <c:tx>
            <c:strRef>
              <c:f>Sheet1!$C$1</c:f>
              <c:strCache>
                <c:ptCount val="1"/>
                <c:pt idx="0">
                  <c:v>With size (1 run)</c:v>
                </c:pt>
              </c:strCache>
            </c:strRef>
          </c:tx>
          <c:spPr>
            <a:solidFill>
              <a:srgbClr val="D62828"/>
            </a:solidFill>
            <a:effectLst/>
          </c:spPr>
          <c:invertIfNegative val="0"/>
          <c:dLbls>
            <c:numFmt formatCode="0;;;" sourceLinked="0"/>
            <c:txPr>
              <a:bodyPr/>
              <a:lstStyle/>
              <a:p>
                <a:pPr>
                  <a:defRPr b="1"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Sheet1!$A$2:$A$5</c:f>
              <c:multiLvlStrCache>
                <c:ptCount val="4"/>
                <c:lvl>
                  <c:pt idx="0">
                    <c:v>Baseline run A</c:v>
                  </c:pt>
                  <c:pt idx="1">
                    <c:v>Baseline run B</c:v>
                  </c:pt>
                  <c:pt idx="2">
                    <c:v>Baseline run C</c:v>
                  </c:pt>
                  <c:pt idx="3">
                    <c:v>With size</c:v>
                  </c:pt>
                </c:lvl>
              </c:multiLvlStrCache>
            </c:multiLvlStrRef>
          </c:cat>
          <c:val>
            <c:numRef>
              <c:f>Sheet1!$C$2:$C$5</c:f>
              <c:numCache>
                <c:formatCode>General</c:formatCode>
                <c:ptCount val="4"/>
                <c:pt idx="0">
                  <c:v>0</c:v>
                </c:pt>
                <c:pt idx="1">
                  <c:v>0</c:v>
                </c:pt>
                <c:pt idx="2">
                  <c:v>0</c:v>
                </c:pt>
                <c:pt idx="3">
                  <c:v>70</c:v>
                </c:pt>
              </c:numCache>
            </c:numRef>
          </c:val>
        </c:ser>
        <c:dLbls>
          <c:numFmt formatCode="0;;;" sourceLinked="0"/>
          <c:txPr>
            <a:bodyPr/>
            <a:lstStyle/>
            <a:p>
              <a:pPr>
                <a:defRPr b="1"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530"/>
                </a:solidFill>
                <a:latin typeface="+mn-lt"/>
              </a:defRPr>
            </a:pPr>
            <a:endParaRPr lang="en-US"/>
          </a:p>
        </c:txPr>
        <c:crossAx val="2094734552"/>
        <c:crosses val="autoZero"/>
        <c:auto val="1"/>
        <c:lblAlgn val="ctr"/>
        <c:noMultiLvlLbl val="1"/>
      </c:catAx>
      <c:valAx>
        <c:axId val="2094734552"/>
        <c:scaling>
          <c:orientation val="minMax"/>
          <c:max val="1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E25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show the first working version of our shape classifier. It is a small convolutional network that we built and trained ourselves, without pretrained weights. The main point of this update is not the accuracy number, but what we learned from the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pipeline for this step has four parts. We take the Kaggle renders, convert them to greyscale, cut out the brick, resize to 96 by 96 pixels and add random rotation, scale and lighting. The network is small: four convolution blocks, 1.2 million parameters, trained from scratch. One detail matters a lot: every pose exists twice, from a left and a right camera. If we split by image, the test set would contain near-copies of training images. So we split by pose. Training takes about three minutes on a local GPU, and every run is tracked in Weights and Biases.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held-out render test set the model gets 93.7 percent top-1 and 99.5 percent top-3. The gap between those two numbers is interesting: when the model is wrong, the correct part is almost always in its top three. So the errors are confusions between similar parts. But please keep in mind: this is render on render. Our real number will come from our own photos, and we expect it to be clearly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training, we expected the model to struggle with look-alikes: parts that differ only on the underside, in the slope angle, or in one stud. The confusion matrix says otherwise: those pairs produce almost no errors. The pairs that really get confused are the same part type in a different length: 1x4 versus 1x3, 2x4 versus 2x3, and so on. Almost half of all errors, 115 of 252, are of this kind. Our own expectation was wrong, and the error analysis showed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happen? Our preprocessing cuts out the brick and scales it to 96 by 96 pixels. After that step, a 1x4 and a 1x3 brick fill the frame in the same way. Only the aspect ratio is left, and from an angle even that is ambiguous. We checked whether the renders contain usable size information at all. The ratios of the median brick sizes match the real geometry closely. So the camera distance in the renders is constant, and the absolute size is real information that we threw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kept the cropped image and gave the network the measured brick size as one extra number, with about five percent noise during training. In our first comparison, length errors dropped from 115 to 70. But when we retrained the baseline with exactly the same settings, it made 81 and 83 length errors. So runs of the same configuration differ by up to 34 errors, and our first baseline was simply an unlucky run. Against the newer baselines the size feature still helps, but the effect is closer to 15 percent than to 40. That is why we now train every configuration with several seeds and report the mean and the range. The table on the right will hold those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is on renders. The most important next step is a first test set of our own photos, because that is the number our core experiment is about. To use the size feature on real photos we need a calibration from pixels to millimetres, which our fixed camera setup and the grey card can give us. One open risk: renders show bricks in random 3D poses, while real bricks lie flat on the table, so sizes may be distributed differently. We will also repeat the experiment with more seeds, try a higher resolution for the remaining stud-level confusions, and calibrate the confidence values before we use them to flag unsure bricks.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8046720" cy="109728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788920"/>
            <a:ext cx="8046720" cy="5486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4" name="Text 0"/>
          <p:cNvSpPr/>
          <p:nvPr>
            <p:ph idx="102" type="body" hasCustomPrompt="1"/>
          </p:nvPr>
        </p:nvSpPr>
        <p:spPr>
          <a:xfrm>
            <a:off x="548640" y="4343400"/>
            <a:ext cx="8046720" cy="365760"/>
          </a:xfrm>
          <a:prstGeom prst="rect">
            <a:avLst/>
          </a:prstGeom>
          <a:noFill/>
          <a:ln/>
        </p:spPr>
        <p:txBody>
          <a:bodyPr wrap="square" rtlCol="0"/>
          <a:lstStyle>
            <a:lvl1pPr indent="0" marL="0">
              <a:buNone/>
              <a:defRPr lang="en-US" sz="1200" dirty="0">
                <a:solidFill>
                  <a:schemeClr val="accent6"/>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chemeClr val="accent4"/>
                </a:solidFill>
              </a:rPr>
              <a:t>LEGO Brick Recognition · Progress update</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chemeClr val="accent6"/>
                </a:solidFill>
              </a:rPr>
              <a:t>LEGO Brick Recognition · Progress update</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8046720" cy="1097280"/>
          </a:xfrm>
          <a:prstGeom prst="rect">
            <a:avLst/>
          </a:prstGeom>
          <a:noFill/>
          <a:ln/>
        </p:spPr>
        <p:txBody>
          <a:bodyPr wrap="square" lIns="0" tIns="0" rIns="0" bIns="0" rtlCol="0" anchor="b"/>
          <a:lstStyle/>
          <a:p>
            <a:pPr algn="l" indent="0" marL="0">
              <a:buNone/>
            </a:pPr>
            <a:r>
              <a:rPr lang="en-US" sz="3800" b="1" dirty="0">
                <a:solidFill>
                  <a:schemeClr val="bg1"/>
                </a:solidFill>
              </a:rPr>
              <a:t>Shape classifier v0: first results</a:t>
            </a:r>
            <a:endParaRPr lang="en-US" sz="3800" dirty="0"/>
          </a:p>
        </p:txBody>
      </p:sp>
      <p:sp>
        <p:nvSpPr>
          <p:cNvPr id="3" name="Text 0"/>
          <p:cNvSpPr/>
          <p:nvPr>
            <p:ph idx="101" type="body" hasCustomPrompt="1"/>
          </p:nvPr>
        </p:nvSpPr>
        <p:spPr>
          <a:xfrm>
            <a:off x="548640" y="2788920"/>
            <a:ext cx="8046720" cy="548640"/>
          </a:xfrm>
          <a:prstGeom prst="rect">
            <a:avLst/>
          </a:prstGeom>
          <a:noFill/>
          <a:ln/>
        </p:spPr>
        <p:txBody>
          <a:bodyPr wrap="square" lIns="0" tIns="0" rIns="0" bIns="0" rtlCol="0" anchor="t"/>
          <a:lstStyle/>
          <a:p>
            <a:pPr indent="0" marL="0">
              <a:buNone/>
            </a:pPr>
            <a:r>
              <a:rPr lang="en-US" sz="1800" dirty="0">
                <a:solidFill>
                  <a:schemeClr val="bg2"/>
                </a:solidFill>
              </a:rPr>
              <a:t>A small CNN, trained from scratch on 40,000 renders</a:t>
            </a:r>
            <a:endParaRPr lang="en-US" sz="1800" dirty="0"/>
          </a:p>
        </p:txBody>
      </p:sp>
      <p:sp>
        <p:nvSpPr>
          <p:cNvPr id="4" name="Text 0"/>
          <p:cNvSpPr/>
          <p:nvPr>
            <p:ph idx="102" type="body" hasCustomPrompt="1"/>
          </p:nvPr>
        </p:nvSpPr>
        <p:spPr>
          <a:xfrm>
            <a:off x="548640" y="4343400"/>
            <a:ext cx="8046720" cy="365760"/>
          </a:xfrm>
          <a:prstGeom prst="rect">
            <a:avLst/>
          </a:prstGeom>
          <a:noFill/>
          <a:ln/>
        </p:spPr>
        <p:txBody>
          <a:bodyPr wrap="square" lIns="0" tIns="0" rIns="0" bIns="0" rtlCol="0" anchor="t"/>
          <a:lstStyle/>
          <a:p>
            <a:pPr indent="0" marL="0">
              <a:buNone/>
            </a:pPr>
            <a:r>
              <a:rPr lang="en-US" sz="1200" dirty="0">
                <a:solidFill>
                  <a:schemeClr val="accent6"/>
                </a:solidFill>
              </a:rPr>
              <a:t>Gruppe 2 – Togzan, Ainur, Sami and David  ·  Progress update  ·  Wintersemester 2026</a:t>
            </a:r>
            <a:endParaRPr lang="en-US" sz="1200" dirty="0"/>
          </a:p>
        </p:txBody>
      </p:sp>
      <p:sp>
        <p:nvSpPr>
          <p:cNvPr id="5" name="Title brick red"/>
          <p:cNvSpPr/>
          <p:nvPr/>
        </p:nvSpPr>
        <p:spPr>
          <a:xfrm>
            <a:off x="548640" y="685800"/>
            <a:ext cx="1463040" cy="365760"/>
          </a:xfrm>
          <a:prstGeom prst="rect">
            <a:avLst/>
          </a:prstGeom>
          <a:solidFill>
            <a:schemeClr val="accent1"/>
          </a:solidFill>
          <a:ln w="12700">
            <a:solidFill>
              <a:schemeClr val="accent1"/>
            </a:solidFill>
            <a:prstDash val="solid"/>
          </a:ln>
        </p:spPr>
      </p:sp>
      <p:sp>
        <p:nvSpPr>
          <p:cNvPr id="6" name="Title brick red stud 1"/>
          <p:cNvSpPr/>
          <p:nvPr/>
        </p:nvSpPr>
        <p:spPr>
          <a:xfrm>
            <a:off x="618134" y="755294"/>
            <a:ext cx="226771" cy="226771"/>
          </a:xfrm>
          <a:prstGeom prst="ellipse">
            <a:avLst/>
          </a:prstGeom>
          <a:solidFill>
            <a:schemeClr val="bg1">
              <a:alpha val="28000"/>
            </a:schemeClr>
          </a:solidFill>
          <a:ln w="12700">
            <a:solidFill>
              <a:schemeClr val="bg1">
                <a:alpha val="0"/>
              </a:schemeClr>
            </a:solidFill>
            <a:prstDash val="solid"/>
          </a:ln>
        </p:spPr>
      </p:sp>
      <p:sp>
        <p:nvSpPr>
          <p:cNvPr id="7" name="Title brick red stud 2"/>
          <p:cNvSpPr/>
          <p:nvPr/>
        </p:nvSpPr>
        <p:spPr>
          <a:xfrm>
            <a:off x="983894" y="755294"/>
            <a:ext cx="226771" cy="226771"/>
          </a:xfrm>
          <a:prstGeom prst="ellipse">
            <a:avLst/>
          </a:prstGeom>
          <a:solidFill>
            <a:schemeClr val="bg1">
              <a:alpha val="28000"/>
            </a:schemeClr>
          </a:solidFill>
          <a:ln w="12700">
            <a:solidFill>
              <a:schemeClr val="bg1">
                <a:alpha val="0"/>
              </a:schemeClr>
            </a:solidFill>
            <a:prstDash val="solid"/>
          </a:ln>
        </p:spPr>
      </p:sp>
      <p:sp>
        <p:nvSpPr>
          <p:cNvPr id="8" name="Title brick red stud 3"/>
          <p:cNvSpPr/>
          <p:nvPr/>
        </p:nvSpPr>
        <p:spPr>
          <a:xfrm>
            <a:off x="1349654" y="755294"/>
            <a:ext cx="226771" cy="226771"/>
          </a:xfrm>
          <a:prstGeom prst="ellipse">
            <a:avLst/>
          </a:prstGeom>
          <a:solidFill>
            <a:schemeClr val="bg1">
              <a:alpha val="28000"/>
            </a:schemeClr>
          </a:solidFill>
          <a:ln w="12700">
            <a:solidFill>
              <a:schemeClr val="bg1">
                <a:alpha val="0"/>
              </a:schemeClr>
            </a:solidFill>
            <a:prstDash val="solid"/>
          </a:ln>
        </p:spPr>
      </p:sp>
      <p:sp>
        <p:nvSpPr>
          <p:cNvPr id="9" name="Title brick red stud 4"/>
          <p:cNvSpPr/>
          <p:nvPr/>
        </p:nvSpPr>
        <p:spPr>
          <a:xfrm>
            <a:off x="1715414" y="755294"/>
            <a:ext cx="226771" cy="226771"/>
          </a:xfrm>
          <a:prstGeom prst="ellipse">
            <a:avLst/>
          </a:prstGeom>
          <a:solidFill>
            <a:schemeClr val="bg1">
              <a:alpha val="28000"/>
            </a:schemeClr>
          </a:solidFill>
          <a:ln w="12700">
            <a:solidFill>
              <a:schemeClr val="bg1">
                <a:alpha val="0"/>
              </a:schemeClr>
            </a:solidFill>
            <a:prstDash val="solid"/>
          </a:ln>
        </p:spPr>
      </p:sp>
      <p:sp>
        <p:nvSpPr>
          <p:cNvPr id="10" name="Title brick yellow"/>
          <p:cNvSpPr/>
          <p:nvPr/>
        </p:nvSpPr>
        <p:spPr>
          <a:xfrm>
            <a:off x="2148840" y="685800"/>
            <a:ext cx="1097280" cy="365760"/>
          </a:xfrm>
          <a:prstGeom prst="rect">
            <a:avLst/>
          </a:prstGeom>
          <a:solidFill>
            <a:schemeClr val="accent2"/>
          </a:solidFill>
          <a:ln w="12700">
            <a:solidFill>
              <a:schemeClr val="accent2"/>
            </a:solidFill>
            <a:prstDash val="solid"/>
          </a:ln>
        </p:spPr>
      </p:sp>
      <p:sp>
        <p:nvSpPr>
          <p:cNvPr id="11" name="Title brick yellow stud 1"/>
          <p:cNvSpPr/>
          <p:nvPr/>
        </p:nvSpPr>
        <p:spPr>
          <a:xfrm>
            <a:off x="2218334" y="755294"/>
            <a:ext cx="226771" cy="226771"/>
          </a:xfrm>
          <a:prstGeom prst="ellipse">
            <a:avLst/>
          </a:prstGeom>
          <a:solidFill>
            <a:schemeClr val="bg1">
              <a:alpha val="28000"/>
            </a:schemeClr>
          </a:solidFill>
          <a:ln w="12700">
            <a:solidFill>
              <a:schemeClr val="bg1">
                <a:alpha val="0"/>
              </a:schemeClr>
            </a:solidFill>
            <a:prstDash val="solid"/>
          </a:ln>
        </p:spPr>
      </p:sp>
      <p:sp>
        <p:nvSpPr>
          <p:cNvPr id="12" name="Title brick yellow stud 2"/>
          <p:cNvSpPr/>
          <p:nvPr/>
        </p:nvSpPr>
        <p:spPr>
          <a:xfrm>
            <a:off x="2584094" y="755294"/>
            <a:ext cx="226771" cy="226771"/>
          </a:xfrm>
          <a:prstGeom prst="ellipse">
            <a:avLst/>
          </a:prstGeom>
          <a:solidFill>
            <a:schemeClr val="bg1">
              <a:alpha val="28000"/>
            </a:schemeClr>
          </a:solidFill>
          <a:ln w="12700">
            <a:solidFill>
              <a:schemeClr val="bg1">
                <a:alpha val="0"/>
              </a:schemeClr>
            </a:solidFill>
            <a:prstDash val="solid"/>
          </a:ln>
        </p:spPr>
      </p:sp>
      <p:sp>
        <p:nvSpPr>
          <p:cNvPr id="13" name="Title brick yellow stud 3"/>
          <p:cNvSpPr/>
          <p:nvPr/>
        </p:nvSpPr>
        <p:spPr>
          <a:xfrm>
            <a:off x="2949854" y="755294"/>
            <a:ext cx="226771" cy="226771"/>
          </a:xfrm>
          <a:prstGeom prst="ellipse">
            <a:avLst/>
          </a:prstGeom>
          <a:solidFill>
            <a:schemeClr val="bg1">
              <a:alpha val="28000"/>
            </a:schemeClr>
          </a:solidFill>
          <a:ln w="12700">
            <a:solidFill>
              <a:schemeClr val="bg1">
                <a:alpha val="0"/>
              </a:schemeClr>
            </a:solidFill>
            <a:prstDash val="solid"/>
          </a:ln>
        </p:spPr>
      </p:sp>
      <p:sp>
        <p:nvSpPr>
          <p:cNvPr id="14" name="Title brick blue"/>
          <p:cNvSpPr/>
          <p:nvPr/>
        </p:nvSpPr>
        <p:spPr>
          <a:xfrm>
            <a:off x="3383280" y="685800"/>
            <a:ext cx="731520" cy="365760"/>
          </a:xfrm>
          <a:prstGeom prst="rect">
            <a:avLst/>
          </a:prstGeom>
          <a:solidFill>
            <a:schemeClr val="accent3"/>
          </a:solidFill>
          <a:ln w="12700">
            <a:solidFill>
              <a:schemeClr val="accent3"/>
            </a:solidFill>
            <a:prstDash val="solid"/>
          </a:ln>
        </p:spPr>
      </p:sp>
      <p:sp>
        <p:nvSpPr>
          <p:cNvPr id="15" name="Title brick blue stud 1"/>
          <p:cNvSpPr/>
          <p:nvPr/>
        </p:nvSpPr>
        <p:spPr>
          <a:xfrm>
            <a:off x="3452774" y="755294"/>
            <a:ext cx="226771" cy="226771"/>
          </a:xfrm>
          <a:prstGeom prst="ellipse">
            <a:avLst/>
          </a:prstGeom>
          <a:solidFill>
            <a:schemeClr val="bg1">
              <a:alpha val="28000"/>
            </a:schemeClr>
          </a:solidFill>
          <a:ln w="12700">
            <a:solidFill>
              <a:schemeClr val="bg1">
                <a:alpha val="0"/>
              </a:schemeClr>
            </a:solidFill>
            <a:prstDash val="solid"/>
          </a:ln>
        </p:spPr>
      </p:sp>
      <p:sp>
        <p:nvSpPr>
          <p:cNvPr id="16" name="Title brick blue stud 2"/>
          <p:cNvSpPr/>
          <p:nvPr/>
        </p:nvSpPr>
        <p:spPr>
          <a:xfrm>
            <a:off x="3818534" y="755294"/>
            <a:ext cx="226771" cy="226771"/>
          </a:xfrm>
          <a:prstGeom prst="ellipse">
            <a:avLst/>
          </a:prstGeom>
          <a:solidFill>
            <a:schemeClr val="bg1">
              <a:alpha val="28000"/>
            </a:schemeClr>
          </a:solidFill>
          <a:ln w="12700">
            <a:solidFill>
              <a:schemeClr val="bg1">
                <a:alpha val="0"/>
              </a:scheme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Setup: 40,000 renders, 1.2 M parameters, 3 minutes</a:t>
            </a:r>
            <a:endParaRPr lang="en-US" sz="2600" dirty="0"/>
          </a:p>
        </p:txBody>
      </p:sp>
      <p:sp>
        <p:nvSpPr>
          <p:cNvPr id="3" name="Step 1 card"/>
          <p:cNvSpPr/>
          <p:nvPr/>
        </p:nvSpPr>
        <p:spPr>
          <a:xfrm>
            <a:off x="457200" y="1143000"/>
            <a:ext cx="1783080" cy="1874520"/>
          </a:xfrm>
          <a:prstGeom prst="roundRect">
            <a:avLst>
              <a:gd name="adj" fmla="val 4103"/>
            </a:avLst>
          </a:prstGeom>
          <a:solidFill>
            <a:schemeClr val="bg2"/>
          </a:solidFill>
          <a:ln w="12700">
            <a:solidFill>
              <a:schemeClr val="bg2">
                <a:alpha val="0"/>
              </a:schemeClr>
            </a:solidFill>
            <a:prstDash val="solid"/>
          </a:ln>
        </p:spPr>
      </p:sp>
      <p:sp>
        <p:nvSpPr>
          <p:cNvPr id="4" name="Step 1 badge"/>
          <p:cNvSpPr/>
          <p:nvPr/>
        </p:nvSpPr>
        <p:spPr>
          <a:xfrm>
            <a:off x="621792" y="1307592"/>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621792" y="13075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621792" y="1801368"/>
            <a:ext cx="1453896" cy="320040"/>
          </a:xfrm>
          <a:prstGeom prst="rect">
            <a:avLst/>
          </a:prstGeom>
          <a:noFill/>
          <a:ln/>
        </p:spPr>
        <p:txBody>
          <a:bodyPr wrap="square" lIns="0" tIns="0" rIns="0" bIns="0" rtlCol="0" anchor="t"/>
          <a:lstStyle/>
          <a:p>
            <a:pPr indent="0" marL="0">
              <a:buNone/>
            </a:pPr>
            <a:r>
              <a:rPr lang="en-US" sz="1500" b="1" dirty="0">
                <a:solidFill>
                  <a:schemeClr val="tx1"/>
                </a:solidFill>
              </a:rPr>
              <a:t>Render</a:t>
            </a:r>
            <a:endParaRPr lang="en-US" sz="1500" dirty="0"/>
          </a:p>
        </p:txBody>
      </p:sp>
      <p:sp>
        <p:nvSpPr>
          <p:cNvPr id="7" name="Text 5"/>
          <p:cNvSpPr txBox="1"/>
          <p:nvPr/>
        </p:nvSpPr>
        <p:spPr>
          <a:xfrm>
            <a:off x="621792" y="2121408"/>
            <a:ext cx="1453896" cy="822960"/>
          </a:xfrm>
          <a:prstGeom prst="rect">
            <a:avLst/>
          </a:prstGeom>
          <a:noFill/>
          <a:ln/>
        </p:spPr>
        <p:txBody>
          <a:bodyPr wrap="square" lIns="0" tIns="0" rIns="0" bIns="0" rtlCol="0" anchor="t"/>
          <a:lstStyle/>
          <a:p>
            <a:pPr indent="0" marL="0">
              <a:buNone/>
            </a:pPr>
            <a:r>
              <a:rPr lang="en-US" sz="1200" dirty="0">
                <a:solidFill>
                  <a:schemeClr val="tx1"/>
                </a:solidFill>
              </a:rPr>
              <a:t>400 × 400 px, one brick, plain background</a:t>
            </a:r>
            <a:endParaRPr lang="en-US" sz="1200" dirty="0"/>
          </a:p>
        </p:txBody>
      </p:sp>
      <p:sp>
        <p:nvSpPr>
          <p:cNvPr id="8" name="Arrow 1"/>
          <p:cNvSpPr/>
          <p:nvPr/>
        </p:nvSpPr>
        <p:spPr>
          <a:xfrm>
            <a:off x="2350008" y="1961388"/>
            <a:ext cx="146304" cy="237744"/>
          </a:xfrm>
          <a:prstGeom prst="chevron">
            <a:avLst/>
          </a:prstGeom>
          <a:solidFill>
            <a:schemeClr val="accent4"/>
          </a:solidFill>
          <a:ln w="12700">
            <a:solidFill>
              <a:schemeClr val="accent4"/>
            </a:solidFill>
            <a:prstDash val="solid"/>
          </a:ln>
        </p:spPr>
      </p:sp>
      <p:sp>
        <p:nvSpPr>
          <p:cNvPr id="9" name="Step 2 card"/>
          <p:cNvSpPr/>
          <p:nvPr/>
        </p:nvSpPr>
        <p:spPr>
          <a:xfrm>
            <a:off x="2606040" y="1143000"/>
            <a:ext cx="1783080" cy="1874520"/>
          </a:xfrm>
          <a:prstGeom prst="roundRect">
            <a:avLst>
              <a:gd name="adj" fmla="val 4103"/>
            </a:avLst>
          </a:prstGeom>
          <a:solidFill>
            <a:schemeClr val="bg2"/>
          </a:solidFill>
          <a:ln w="12700">
            <a:solidFill>
              <a:schemeClr val="bg2">
                <a:alpha val="0"/>
              </a:schemeClr>
            </a:solidFill>
            <a:prstDash val="solid"/>
          </a:ln>
        </p:spPr>
      </p:sp>
      <p:sp>
        <p:nvSpPr>
          <p:cNvPr id="10" name="Step 2 badge"/>
          <p:cNvSpPr/>
          <p:nvPr/>
        </p:nvSpPr>
        <p:spPr>
          <a:xfrm>
            <a:off x="2770632" y="1307592"/>
            <a:ext cx="384048" cy="384048"/>
          </a:xfrm>
          <a:prstGeom prst="ellipse">
            <a:avLst/>
          </a:prstGeom>
          <a:solidFill>
            <a:schemeClr val="accent1"/>
          </a:solidFill>
          <a:ln w="12700">
            <a:solidFill>
              <a:schemeClr val="accent1"/>
            </a:solidFill>
            <a:prstDash val="solid"/>
          </a:ln>
        </p:spPr>
      </p:sp>
      <p:sp>
        <p:nvSpPr>
          <p:cNvPr id="11" name="Text 9"/>
          <p:cNvSpPr txBox="1"/>
          <p:nvPr/>
        </p:nvSpPr>
        <p:spPr>
          <a:xfrm>
            <a:off x="2770632" y="13075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2770632" y="1801368"/>
            <a:ext cx="1453896" cy="320040"/>
          </a:xfrm>
          <a:prstGeom prst="rect">
            <a:avLst/>
          </a:prstGeom>
          <a:noFill/>
          <a:ln/>
        </p:spPr>
        <p:txBody>
          <a:bodyPr wrap="square" lIns="0" tIns="0" rIns="0" bIns="0" rtlCol="0" anchor="t"/>
          <a:lstStyle/>
          <a:p>
            <a:pPr indent="0" marL="0">
              <a:buNone/>
            </a:pPr>
            <a:r>
              <a:rPr lang="en-US" sz="1500" b="1" dirty="0">
                <a:solidFill>
                  <a:schemeClr val="tx1"/>
                </a:solidFill>
              </a:rPr>
              <a:t>Crop</a:t>
            </a:r>
            <a:endParaRPr lang="en-US" sz="1500" dirty="0"/>
          </a:p>
        </p:txBody>
      </p:sp>
      <p:sp>
        <p:nvSpPr>
          <p:cNvPr id="13" name="Text 11"/>
          <p:cNvSpPr txBox="1"/>
          <p:nvPr/>
        </p:nvSpPr>
        <p:spPr>
          <a:xfrm>
            <a:off x="2770632" y="2121408"/>
            <a:ext cx="1453896" cy="822960"/>
          </a:xfrm>
          <a:prstGeom prst="rect">
            <a:avLst/>
          </a:prstGeom>
          <a:noFill/>
          <a:ln/>
        </p:spPr>
        <p:txBody>
          <a:bodyPr wrap="square" lIns="0" tIns="0" rIns="0" bIns="0" rtlCol="0" anchor="t"/>
          <a:lstStyle/>
          <a:p>
            <a:pPr indent="0" marL="0">
              <a:buNone/>
            </a:pPr>
            <a:r>
              <a:rPr lang="en-US" sz="1200" dirty="0">
                <a:solidFill>
                  <a:schemeClr val="tx1"/>
                </a:solidFill>
              </a:rPr>
              <a:t>Greyscale, cut out the brick, pad to a square</a:t>
            </a:r>
            <a:endParaRPr lang="en-US" sz="1200" dirty="0"/>
          </a:p>
        </p:txBody>
      </p:sp>
      <p:sp>
        <p:nvSpPr>
          <p:cNvPr id="14" name="Arrow 2"/>
          <p:cNvSpPr/>
          <p:nvPr/>
        </p:nvSpPr>
        <p:spPr>
          <a:xfrm>
            <a:off x="4498848" y="1961388"/>
            <a:ext cx="146304" cy="237744"/>
          </a:xfrm>
          <a:prstGeom prst="chevron">
            <a:avLst/>
          </a:prstGeom>
          <a:solidFill>
            <a:schemeClr val="accent4"/>
          </a:solidFill>
          <a:ln w="12700">
            <a:solidFill>
              <a:schemeClr val="accent4"/>
            </a:solidFill>
            <a:prstDash val="solid"/>
          </a:ln>
        </p:spPr>
      </p:sp>
      <p:sp>
        <p:nvSpPr>
          <p:cNvPr id="15" name="Step 3 card"/>
          <p:cNvSpPr/>
          <p:nvPr/>
        </p:nvSpPr>
        <p:spPr>
          <a:xfrm>
            <a:off x="4754880" y="1143000"/>
            <a:ext cx="1783080" cy="1874520"/>
          </a:xfrm>
          <a:prstGeom prst="roundRect">
            <a:avLst>
              <a:gd name="adj" fmla="val 4103"/>
            </a:avLst>
          </a:prstGeom>
          <a:solidFill>
            <a:schemeClr val="bg2"/>
          </a:solidFill>
          <a:ln w="12700">
            <a:solidFill>
              <a:schemeClr val="bg2">
                <a:alpha val="0"/>
              </a:schemeClr>
            </a:solidFill>
            <a:prstDash val="solid"/>
          </a:ln>
        </p:spPr>
      </p:sp>
      <p:sp>
        <p:nvSpPr>
          <p:cNvPr id="16" name="Step 3 badge"/>
          <p:cNvSpPr/>
          <p:nvPr/>
        </p:nvSpPr>
        <p:spPr>
          <a:xfrm>
            <a:off x="4919472" y="1307592"/>
            <a:ext cx="384048" cy="384048"/>
          </a:xfrm>
          <a:prstGeom prst="ellipse">
            <a:avLst/>
          </a:prstGeom>
          <a:solidFill>
            <a:schemeClr val="accent1"/>
          </a:solidFill>
          <a:ln w="12700">
            <a:solidFill>
              <a:schemeClr val="accent1"/>
            </a:solidFill>
            <a:prstDash val="solid"/>
          </a:ln>
        </p:spPr>
      </p:sp>
      <p:sp>
        <p:nvSpPr>
          <p:cNvPr id="17" name="Text 15"/>
          <p:cNvSpPr txBox="1"/>
          <p:nvPr/>
        </p:nvSpPr>
        <p:spPr>
          <a:xfrm>
            <a:off x="4919472" y="13075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4919472" y="1801368"/>
            <a:ext cx="1453896" cy="320040"/>
          </a:xfrm>
          <a:prstGeom prst="rect">
            <a:avLst/>
          </a:prstGeom>
          <a:noFill/>
          <a:ln/>
        </p:spPr>
        <p:txBody>
          <a:bodyPr wrap="square" lIns="0" tIns="0" rIns="0" bIns="0" rtlCol="0" anchor="t"/>
          <a:lstStyle/>
          <a:p>
            <a:pPr indent="0" marL="0">
              <a:buNone/>
            </a:pPr>
            <a:r>
              <a:rPr lang="en-US" sz="1500" b="1" dirty="0">
                <a:solidFill>
                  <a:schemeClr val="tx1"/>
                </a:solidFill>
              </a:rPr>
              <a:t>Resize + augment</a:t>
            </a:r>
            <a:endParaRPr lang="en-US" sz="1500" dirty="0"/>
          </a:p>
        </p:txBody>
      </p:sp>
      <p:sp>
        <p:nvSpPr>
          <p:cNvPr id="19" name="Text 17"/>
          <p:cNvSpPr txBox="1"/>
          <p:nvPr/>
        </p:nvSpPr>
        <p:spPr>
          <a:xfrm>
            <a:off x="4919472" y="2121408"/>
            <a:ext cx="1453896" cy="822960"/>
          </a:xfrm>
          <a:prstGeom prst="rect">
            <a:avLst/>
          </a:prstGeom>
          <a:noFill/>
          <a:ln/>
        </p:spPr>
        <p:txBody>
          <a:bodyPr wrap="square" lIns="0" tIns="0" rIns="0" bIns="0" rtlCol="0" anchor="t"/>
          <a:lstStyle/>
          <a:p>
            <a:pPr indent="0" marL="0">
              <a:buNone/>
            </a:pPr>
            <a:r>
              <a:rPr lang="en-US" sz="1200" dirty="0">
                <a:solidFill>
                  <a:schemeClr val="tx1"/>
                </a:solidFill>
              </a:rPr>
              <a:t>96 × 96 px; random rotation, scale, light</a:t>
            </a:r>
            <a:endParaRPr lang="en-US" sz="1200" dirty="0"/>
          </a:p>
        </p:txBody>
      </p:sp>
      <p:sp>
        <p:nvSpPr>
          <p:cNvPr id="20" name="Arrow 3"/>
          <p:cNvSpPr/>
          <p:nvPr/>
        </p:nvSpPr>
        <p:spPr>
          <a:xfrm>
            <a:off x="6647688" y="1961388"/>
            <a:ext cx="146304" cy="237744"/>
          </a:xfrm>
          <a:prstGeom prst="chevron">
            <a:avLst/>
          </a:prstGeom>
          <a:solidFill>
            <a:schemeClr val="accent4"/>
          </a:solidFill>
          <a:ln w="12700">
            <a:solidFill>
              <a:schemeClr val="accent4"/>
            </a:solidFill>
            <a:prstDash val="solid"/>
          </a:ln>
        </p:spPr>
      </p:sp>
      <p:sp>
        <p:nvSpPr>
          <p:cNvPr id="21" name="Step 4 card"/>
          <p:cNvSpPr/>
          <p:nvPr/>
        </p:nvSpPr>
        <p:spPr>
          <a:xfrm>
            <a:off x="6903720" y="1143000"/>
            <a:ext cx="1783080" cy="1874520"/>
          </a:xfrm>
          <a:prstGeom prst="roundRect">
            <a:avLst>
              <a:gd name="adj" fmla="val 4103"/>
            </a:avLst>
          </a:prstGeom>
          <a:solidFill>
            <a:schemeClr val="bg2"/>
          </a:solidFill>
          <a:ln w="12700">
            <a:solidFill>
              <a:schemeClr val="bg2">
                <a:alpha val="0"/>
              </a:schemeClr>
            </a:solidFill>
            <a:prstDash val="solid"/>
          </a:ln>
        </p:spPr>
      </p:sp>
      <p:sp>
        <p:nvSpPr>
          <p:cNvPr id="22" name="Step 4 badge"/>
          <p:cNvSpPr/>
          <p:nvPr/>
        </p:nvSpPr>
        <p:spPr>
          <a:xfrm>
            <a:off x="7068312" y="1307592"/>
            <a:ext cx="384048" cy="384048"/>
          </a:xfrm>
          <a:prstGeom prst="ellipse">
            <a:avLst/>
          </a:prstGeom>
          <a:solidFill>
            <a:schemeClr val="accent1"/>
          </a:solidFill>
          <a:ln w="12700">
            <a:solidFill>
              <a:schemeClr val="accent1"/>
            </a:solidFill>
            <a:prstDash val="solid"/>
          </a:ln>
        </p:spPr>
      </p:sp>
      <p:sp>
        <p:nvSpPr>
          <p:cNvPr id="23" name="Text 21"/>
          <p:cNvSpPr txBox="1"/>
          <p:nvPr/>
        </p:nvSpPr>
        <p:spPr>
          <a:xfrm>
            <a:off x="7068312" y="130759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7068312" y="1801368"/>
            <a:ext cx="1453896" cy="320040"/>
          </a:xfrm>
          <a:prstGeom prst="rect">
            <a:avLst/>
          </a:prstGeom>
          <a:noFill/>
          <a:ln/>
        </p:spPr>
        <p:txBody>
          <a:bodyPr wrap="square" lIns="0" tIns="0" rIns="0" bIns="0" rtlCol="0" anchor="t"/>
          <a:lstStyle/>
          <a:p>
            <a:pPr indent="0" marL="0">
              <a:buNone/>
            </a:pPr>
            <a:r>
              <a:rPr lang="en-US" sz="1500" b="1" dirty="0">
                <a:solidFill>
                  <a:schemeClr val="tx1"/>
                </a:solidFill>
              </a:rPr>
              <a:t>Small CNN</a:t>
            </a:r>
            <a:endParaRPr lang="en-US" sz="1500" dirty="0"/>
          </a:p>
        </p:txBody>
      </p:sp>
      <p:sp>
        <p:nvSpPr>
          <p:cNvPr id="25" name="Text 23"/>
          <p:cNvSpPr txBox="1"/>
          <p:nvPr/>
        </p:nvSpPr>
        <p:spPr>
          <a:xfrm>
            <a:off x="7068312" y="2121408"/>
            <a:ext cx="1453896" cy="822960"/>
          </a:xfrm>
          <a:prstGeom prst="rect">
            <a:avLst/>
          </a:prstGeom>
          <a:noFill/>
          <a:ln/>
        </p:spPr>
        <p:txBody>
          <a:bodyPr wrap="square" lIns="0" tIns="0" rIns="0" bIns="0" rtlCol="0" anchor="t"/>
          <a:lstStyle/>
          <a:p>
            <a:pPr indent="0" marL="0">
              <a:buNone/>
            </a:pPr>
            <a:r>
              <a:rPr lang="en-US" sz="1200" dirty="0">
                <a:solidFill>
                  <a:schemeClr val="tx1"/>
                </a:solidFill>
              </a:rPr>
              <a:t>4 conv blocks, 1.2 M parameters, no pretrained weights → 50 classes</a:t>
            </a:r>
            <a:endParaRPr lang="en-US" sz="1200" dirty="0"/>
          </a:p>
        </p:txBody>
      </p:sp>
      <p:sp>
        <p:nvSpPr>
          <p:cNvPr id="26" name="Fact 1 icon"/>
          <p:cNvSpPr/>
          <p:nvPr/>
        </p:nvSpPr>
        <p:spPr>
          <a:xfrm>
            <a:off x="457200" y="3328416"/>
            <a:ext cx="457200" cy="182880"/>
          </a:xfrm>
          <a:prstGeom prst="rect">
            <a:avLst/>
          </a:prstGeom>
          <a:solidFill>
            <a:schemeClr val="accent2"/>
          </a:solidFill>
          <a:ln w="12700">
            <a:solidFill>
              <a:schemeClr val="accent2"/>
            </a:solidFill>
            <a:prstDash val="solid"/>
          </a:ln>
        </p:spPr>
      </p:sp>
      <p:sp>
        <p:nvSpPr>
          <p:cNvPr id="27" name="Fact 1 icon stud 1"/>
          <p:cNvSpPr/>
          <p:nvPr/>
        </p:nvSpPr>
        <p:spPr>
          <a:xfrm>
            <a:off x="514807" y="3363163"/>
            <a:ext cx="113386" cy="113386"/>
          </a:xfrm>
          <a:prstGeom prst="ellipse">
            <a:avLst/>
          </a:prstGeom>
          <a:solidFill>
            <a:schemeClr val="bg1">
              <a:alpha val="28000"/>
            </a:schemeClr>
          </a:solidFill>
          <a:ln w="12700">
            <a:solidFill>
              <a:schemeClr val="bg1">
                <a:alpha val="0"/>
              </a:schemeClr>
            </a:solidFill>
            <a:prstDash val="solid"/>
          </a:ln>
        </p:spPr>
      </p:sp>
      <p:sp>
        <p:nvSpPr>
          <p:cNvPr id="28" name="Fact 1 icon stud 2"/>
          <p:cNvSpPr/>
          <p:nvPr/>
        </p:nvSpPr>
        <p:spPr>
          <a:xfrm>
            <a:off x="743407" y="3363163"/>
            <a:ext cx="113386" cy="113386"/>
          </a:xfrm>
          <a:prstGeom prst="ellipse">
            <a:avLst/>
          </a:prstGeom>
          <a:solidFill>
            <a:schemeClr val="bg1">
              <a:alpha val="28000"/>
            </a:schemeClr>
          </a:solidFill>
          <a:ln w="12700">
            <a:solidFill>
              <a:schemeClr val="bg1">
                <a:alpha val="0"/>
              </a:schemeClr>
            </a:solidFill>
            <a:prstDash val="solid"/>
          </a:ln>
        </p:spPr>
      </p:sp>
      <p:sp>
        <p:nvSpPr>
          <p:cNvPr id="29" name="Text 27"/>
          <p:cNvSpPr txBox="1"/>
          <p:nvPr/>
        </p:nvSpPr>
        <p:spPr>
          <a:xfrm>
            <a:off x="1024128" y="3291840"/>
            <a:ext cx="1993392" cy="274320"/>
          </a:xfrm>
          <a:prstGeom prst="rect">
            <a:avLst/>
          </a:prstGeom>
          <a:noFill/>
          <a:ln/>
        </p:spPr>
        <p:txBody>
          <a:bodyPr wrap="square" lIns="0" tIns="0" rIns="0" bIns="0" rtlCol="0" anchor="ctr"/>
          <a:lstStyle/>
          <a:p>
            <a:pPr indent="0" marL="0">
              <a:buNone/>
            </a:pPr>
            <a:r>
              <a:rPr lang="en-US" sz="1400" b="1" dirty="0">
                <a:solidFill>
                  <a:schemeClr val="tx1"/>
                </a:solidFill>
              </a:rPr>
              <a:t>Split by pose</a:t>
            </a:r>
            <a:endParaRPr lang="en-US" sz="1400" dirty="0"/>
          </a:p>
        </p:txBody>
      </p:sp>
      <p:sp>
        <p:nvSpPr>
          <p:cNvPr id="30" name="Text 28"/>
          <p:cNvSpPr txBox="1"/>
          <p:nvPr/>
        </p:nvSpPr>
        <p:spPr>
          <a:xfrm>
            <a:off x="457200" y="3657600"/>
            <a:ext cx="2560320" cy="914400"/>
          </a:xfrm>
          <a:prstGeom prst="rect">
            <a:avLst/>
          </a:prstGeom>
          <a:noFill/>
          <a:ln/>
        </p:spPr>
        <p:txBody>
          <a:bodyPr wrap="square" lIns="0" tIns="0" rIns="0" bIns="0" rtlCol="0" anchor="t"/>
          <a:lstStyle/>
          <a:p>
            <a:pPr indent="0" marL="0">
              <a:buNone/>
            </a:pPr>
            <a:r>
              <a:rPr lang="en-US" sz="1200" dirty="0">
                <a:solidFill>
                  <a:schemeClr val="tx1"/>
                </a:solidFill>
              </a:rPr>
              <a:t>Each pose is rendered from two cameras (L/R). Both views always stay in the same split, so the test set never sees a pose from training.</a:t>
            </a:r>
            <a:endParaRPr lang="en-US" sz="1200" dirty="0"/>
          </a:p>
        </p:txBody>
      </p:sp>
      <p:sp>
        <p:nvSpPr>
          <p:cNvPr id="31" name="Fact 2 icon"/>
          <p:cNvSpPr/>
          <p:nvPr/>
        </p:nvSpPr>
        <p:spPr>
          <a:xfrm>
            <a:off x="3291840" y="3328416"/>
            <a:ext cx="457200" cy="182880"/>
          </a:xfrm>
          <a:prstGeom prst="rect">
            <a:avLst/>
          </a:prstGeom>
          <a:solidFill>
            <a:schemeClr val="accent2"/>
          </a:solidFill>
          <a:ln w="12700">
            <a:solidFill>
              <a:schemeClr val="accent2"/>
            </a:solidFill>
            <a:prstDash val="solid"/>
          </a:ln>
        </p:spPr>
      </p:sp>
      <p:sp>
        <p:nvSpPr>
          <p:cNvPr id="32" name="Fact 2 icon stud 1"/>
          <p:cNvSpPr/>
          <p:nvPr/>
        </p:nvSpPr>
        <p:spPr>
          <a:xfrm>
            <a:off x="3349447" y="3363163"/>
            <a:ext cx="113386" cy="113386"/>
          </a:xfrm>
          <a:prstGeom prst="ellipse">
            <a:avLst/>
          </a:prstGeom>
          <a:solidFill>
            <a:schemeClr val="bg1">
              <a:alpha val="28000"/>
            </a:schemeClr>
          </a:solidFill>
          <a:ln w="12700">
            <a:solidFill>
              <a:schemeClr val="bg1">
                <a:alpha val="0"/>
              </a:schemeClr>
            </a:solidFill>
            <a:prstDash val="solid"/>
          </a:ln>
        </p:spPr>
      </p:sp>
      <p:sp>
        <p:nvSpPr>
          <p:cNvPr id="33" name="Fact 2 icon stud 2"/>
          <p:cNvSpPr/>
          <p:nvPr/>
        </p:nvSpPr>
        <p:spPr>
          <a:xfrm>
            <a:off x="3578047" y="3363163"/>
            <a:ext cx="113386" cy="113386"/>
          </a:xfrm>
          <a:prstGeom prst="ellipse">
            <a:avLst/>
          </a:prstGeom>
          <a:solidFill>
            <a:schemeClr val="bg1">
              <a:alpha val="28000"/>
            </a:schemeClr>
          </a:solidFill>
          <a:ln w="12700">
            <a:solidFill>
              <a:schemeClr val="bg1">
                <a:alpha val="0"/>
              </a:schemeClr>
            </a:solidFill>
            <a:prstDash val="solid"/>
          </a:ln>
        </p:spPr>
      </p:sp>
      <p:sp>
        <p:nvSpPr>
          <p:cNvPr id="34" name="Text 32"/>
          <p:cNvSpPr txBox="1"/>
          <p:nvPr/>
        </p:nvSpPr>
        <p:spPr>
          <a:xfrm>
            <a:off x="3858768" y="3291840"/>
            <a:ext cx="1993392" cy="274320"/>
          </a:xfrm>
          <a:prstGeom prst="rect">
            <a:avLst/>
          </a:prstGeom>
          <a:noFill/>
          <a:ln/>
        </p:spPr>
        <p:txBody>
          <a:bodyPr wrap="square" lIns="0" tIns="0" rIns="0" bIns="0" rtlCol="0" anchor="ctr"/>
          <a:lstStyle/>
          <a:p>
            <a:pPr indent="0" marL="0">
              <a:buNone/>
            </a:pPr>
            <a:r>
              <a:rPr lang="en-US" sz="1400" b="1" dirty="0">
                <a:solidFill>
                  <a:schemeClr val="tx1"/>
                </a:solidFill>
              </a:rPr>
              <a:t>32,000 / 4,000 / 4,000</a:t>
            </a:r>
            <a:endParaRPr lang="en-US" sz="1400" dirty="0"/>
          </a:p>
        </p:txBody>
      </p:sp>
      <p:sp>
        <p:nvSpPr>
          <p:cNvPr id="35" name="Text 33"/>
          <p:cNvSpPr txBox="1"/>
          <p:nvPr/>
        </p:nvSpPr>
        <p:spPr>
          <a:xfrm>
            <a:off x="3291840" y="3657600"/>
            <a:ext cx="2560320" cy="914400"/>
          </a:xfrm>
          <a:prstGeom prst="rect">
            <a:avLst/>
          </a:prstGeom>
          <a:noFill/>
          <a:ln/>
        </p:spPr>
        <p:txBody>
          <a:bodyPr wrap="square" lIns="0" tIns="0" rIns="0" bIns="0" rtlCol="0" anchor="t"/>
          <a:lstStyle/>
          <a:p>
            <a:pPr indent="0" marL="0">
              <a:buNone/>
            </a:pPr>
            <a:r>
              <a:rPr lang="en-US" sz="1200" dirty="0">
                <a:solidFill>
                  <a:schemeClr val="tx1"/>
                </a:solidFill>
              </a:rPr>
              <a:t>Train / validation / test images, 80 test images per class. The split is saved and shared by the whole team.</a:t>
            </a:r>
            <a:endParaRPr lang="en-US" sz="1200" dirty="0"/>
          </a:p>
        </p:txBody>
      </p:sp>
      <p:sp>
        <p:nvSpPr>
          <p:cNvPr id="36" name="Fact 3 icon"/>
          <p:cNvSpPr/>
          <p:nvPr/>
        </p:nvSpPr>
        <p:spPr>
          <a:xfrm>
            <a:off x="6126480" y="3328416"/>
            <a:ext cx="457200" cy="182880"/>
          </a:xfrm>
          <a:prstGeom prst="rect">
            <a:avLst/>
          </a:prstGeom>
          <a:solidFill>
            <a:schemeClr val="accent2"/>
          </a:solidFill>
          <a:ln w="12700">
            <a:solidFill>
              <a:schemeClr val="accent2"/>
            </a:solidFill>
            <a:prstDash val="solid"/>
          </a:ln>
        </p:spPr>
      </p:sp>
      <p:sp>
        <p:nvSpPr>
          <p:cNvPr id="37" name="Fact 3 icon stud 1"/>
          <p:cNvSpPr/>
          <p:nvPr/>
        </p:nvSpPr>
        <p:spPr>
          <a:xfrm>
            <a:off x="6184087" y="3363163"/>
            <a:ext cx="113386" cy="113386"/>
          </a:xfrm>
          <a:prstGeom prst="ellipse">
            <a:avLst/>
          </a:prstGeom>
          <a:solidFill>
            <a:schemeClr val="bg1">
              <a:alpha val="28000"/>
            </a:schemeClr>
          </a:solidFill>
          <a:ln w="12700">
            <a:solidFill>
              <a:schemeClr val="bg1">
                <a:alpha val="0"/>
              </a:schemeClr>
            </a:solidFill>
            <a:prstDash val="solid"/>
          </a:ln>
        </p:spPr>
      </p:sp>
      <p:sp>
        <p:nvSpPr>
          <p:cNvPr id="38" name="Fact 3 icon stud 2"/>
          <p:cNvSpPr/>
          <p:nvPr/>
        </p:nvSpPr>
        <p:spPr>
          <a:xfrm>
            <a:off x="6412687" y="3363163"/>
            <a:ext cx="113386" cy="113386"/>
          </a:xfrm>
          <a:prstGeom prst="ellipse">
            <a:avLst/>
          </a:prstGeom>
          <a:solidFill>
            <a:schemeClr val="bg1">
              <a:alpha val="28000"/>
            </a:schemeClr>
          </a:solidFill>
          <a:ln w="12700">
            <a:solidFill>
              <a:schemeClr val="bg1">
                <a:alpha val="0"/>
              </a:schemeClr>
            </a:solidFill>
            <a:prstDash val="solid"/>
          </a:ln>
        </p:spPr>
      </p:sp>
      <p:sp>
        <p:nvSpPr>
          <p:cNvPr id="39" name="Text 37"/>
          <p:cNvSpPr txBox="1"/>
          <p:nvPr/>
        </p:nvSpPr>
        <p:spPr>
          <a:xfrm>
            <a:off x="6693408" y="3291840"/>
            <a:ext cx="1993392" cy="274320"/>
          </a:xfrm>
          <a:prstGeom prst="rect">
            <a:avLst/>
          </a:prstGeom>
          <a:noFill/>
          <a:ln/>
        </p:spPr>
        <p:txBody>
          <a:bodyPr wrap="square" lIns="0" tIns="0" rIns="0" bIns="0" rtlCol="0" anchor="ctr"/>
          <a:lstStyle/>
          <a:p>
            <a:pPr indent="0" marL="0">
              <a:buNone/>
            </a:pPr>
            <a:r>
              <a:rPr lang="en-US" sz="1400" b="1" dirty="0">
                <a:solidFill>
                  <a:schemeClr val="tx1"/>
                </a:solidFill>
              </a:rPr>
              <a:t>&lt; 10 s per epoch</a:t>
            </a:r>
            <a:endParaRPr lang="en-US" sz="1400" dirty="0"/>
          </a:p>
        </p:txBody>
      </p:sp>
      <p:sp>
        <p:nvSpPr>
          <p:cNvPr id="40" name="Text 38"/>
          <p:cNvSpPr txBox="1"/>
          <p:nvPr/>
        </p:nvSpPr>
        <p:spPr>
          <a:xfrm>
            <a:off x="6126480" y="3657600"/>
            <a:ext cx="2560320" cy="914400"/>
          </a:xfrm>
          <a:prstGeom prst="rect">
            <a:avLst/>
          </a:prstGeom>
          <a:noFill/>
          <a:ln/>
        </p:spPr>
        <p:txBody>
          <a:bodyPr wrap="square" lIns="0" tIns="0" rIns="0" bIns="0" rtlCol="0" anchor="t"/>
          <a:lstStyle/>
          <a:p>
            <a:pPr indent="0" marL="0">
              <a:buNone/>
            </a:pPr>
            <a:r>
              <a:rPr lang="en-US" sz="1200" dirty="0">
                <a:solidFill>
                  <a:schemeClr val="tx1"/>
                </a:solidFill>
              </a:rPr>
              <a:t>Local RTX 4080, data and augmentation on the GPU. Every run is logged in Weights &amp; Biases.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Baseline: 93.7 % top-1, 99.5 % top-3 on renders</a:t>
            </a:r>
            <a:endParaRPr lang="en-US" sz="2600" dirty="0"/>
          </a:p>
        </p:txBody>
      </p:sp>
      <p:sp>
        <p:nvSpPr>
          <p:cNvPr id="3" name="Text 1"/>
          <p:cNvSpPr txBox="1"/>
          <p:nvPr/>
        </p:nvSpPr>
        <p:spPr>
          <a:xfrm>
            <a:off x="457200" y="1188720"/>
            <a:ext cx="2560320" cy="86868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93.7 %</a:t>
            </a:r>
            <a:endParaRPr lang="en-US" sz="4800" dirty="0"/>
          </a:p>
        </p:txBody>
      </p:sp>
      <p:sp>
        <p:nvSpPr>
          <p:cNvPr id="4" name="Text 2"/>
          <p:cNvSpPr txBox="1"/>
          <p:nvPr/>
        </p:nvSpPr>
        <p:spPr>
          <a:xfrm>
            <a:off x="457200" y="2103120"/>
            <a:ext cx="2560320" cy="320040"/>
          </a:xfrm>
          <a:prstGeom prst="rect">
            <a:avLst/>
          </a:prstGeom>
          <a:noFill/>
          <a:ln/>
        </p:spPr>
        <p:txBody>
          <a:bodyPr wrap="square" lIns="0" tIns="0" rIns="0" bIns="0" rtlCol="0" anchor="t"/>
          <a:lstStyle/>
          <a:p>
            <a:pPr indent="0" marL="0">
              <a:buNone/>
            </a:pPr>
            <a:r>
              <a:rPr lang="en-US" sz="1400" dirty="0">
                <a:solidFill>
                  <a:schemeClr val="accent4"/>
                </a:solidFill>
              </a:rPr>
              <a:t>top-1 accuracy</a:t>
            </a:r>
            <a:endParaRPr lang="en-US" sz="1400" dirty="0"/>
          </a:p>
        </p:txBody>
      </p:sp>
      <p:sp>
        <p:nvSpPr>
          <p:cNvPr id="5" name="Text 3"/>
          <p:cNvSpPr txBox="1"/>
          <p:nvPr/>
        </p:nvSpPr>
        <p:spPr>
          <a:xfrm>
            <a:off x="3291840" y="1188720"/>
            <a:ext cx="2560320" cy="86868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99.5 %</a:t>
            </a:r>
            <a:endParaRPr lang="en-US" sz="4800" dirty="0"/>
          </a:p>
        </p:txBody>
      </p:sp>
      <p:sp>
        <p:nvSpPr>
          <p:cNvPr id="6" name="Text 4"/>
          <p:cNvSpPr txBox="1"/>
          <p:nvPr/>
        </p:nvSpPr>
        <p:spPr>
          <a:xfrm>
            <a:off x="3291840" y="2103120"/>
            <a:ext cx="2560320" cy="320040"/>
          </a:xfrm>
          <a:prstGeom prst="rect">
            <a:avLst/>
          </a:prstGeom>
          <a:noFill/>
          <a:ln/>
        </p:spPr>
        <p:txBody>
          <a:bodyPr wrap="square" lIns="0" tIns="0" rIns="0" bIns="0" rtlCol="0" anchor="t"/>
          <a:lstStyle/>
          <a:p>
            <a:pPr indent="0" marL="0">
              <a:buNone/>
            </a:pPr>
            <a:r>
              <a:rPr lang="en-US" sz="1400" dirty="0">
                <a:solidFill>
                  <a:schemeClr val="accent4"/>
                </a:solidFill>
              </a:rPr>
              <a:t>top-3 accuracy</a:t>
            </a:r>
            <a:endParaRPr lang="en-US" sz="1400" dirty="0"/>
          </a:p>
        </p:txBody>
      </p:sp>
      <p:sp>
        <p:nvSpPr>
          <p:cNvPr id="7" name="Text 5"/>
          <p:cNvSpPr txBox="1"/>
          <p:nvPr/>
        </p:nvSpPr>
        <p:spPr>
          <a:xfrm>
            <a:off x="6126480" y="1188720"/>
            <a:ext cx="2560320" cy="86868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0.94</a:t>
            </a:r>
            <a:endParaRPr lang="en-US" sz="4800" dirty="0"/>
          </a:p>
        </p:txBody>
      </p:sp>
      <p:sp>
        <p:nvSpPr>
          <p:cNvPr id="8" name="Text 6"/>
          <p:cNvSpPr txBox="1"/>
          <p:nvPr/>
        </p:nvSpPr>
        <p:spPr>
          <a:xfrm>
            <a:off x="6126480" y="2103120"/>
            <a:ext cx="2560320" cy="320040"/>
          </a:xfrm>
          <a:prstGeom prst="rect">
            <a:avLst/>
          </a:prstGeom>
          <a:noFill/>
          <a:ln/>
        </p:spPr>
        <p:txBody>
          <a:bodyPr wrap="square" lIns="0" tIns="0" rIns="0" bIns="0" rtlCol="0" anchor="t"/>
          <a:lstStyle/>
          <a:p>
            <a:pPr indent="0" marL="0">
              <a:buNone/>
            </a:pPr>
            <a:r>
              <a:rPr lang="en-US" sz="1400" dirty="0">
                <a:solidFill>
                  <a:schemeClr val="accent4"/>
                </a:solidFill>
              </a:rPr>
              <a:t>macro-F1 (all 50 classes)</a:t>
            </a:r>
            <a:endParaRPr lang="en-US" sz="1400" dirty="0"/>
          </a:p>
        </p:txBody>
      </p:sp>
      <p:sp>
        <p:nvSpPr>
          <p:cNvPr id="9" name="Meaning card"/>
          <p:cNvSpPr/>
          <p:nvPr/>
        </p:nvSpPr>
        <p:spPr>
          <a:xfrm>
            <a:off x="457200" y="2743200"/>
            <a:ext cx="3977640" cy="1783080"/>
          </a:xfrm>
          <a:prstGeom prst="roundRect">
            <a:avLst>
              <a:gd name="adj" fmla="val 4103"/>
            </a:avLst>
          </a:prstGeom>
          <a:solidFill>
            <a:schemeClr val="bg2"/>
          </a:solidFill>
          <a:ln w="12700">
            <a:solidFill>
              <a:schemeClr val="bg2">
                <a:alpha val="0"/>
              </a:schemeClr>
            </a:solidFill>
            <a:prstDash val="solid"/>
          </a:ln>
        </p:spPr>
      </p:sp>
      <p:sp>
        <p:nvSpPr>
          <p:cNvPr id="10" name="Text 8"/>
          <p:cNvSpPr txBox="1"/>
          <p:nvPr/>
        </p:nvSpPr>
        <p:spPr>
          <a:xfrm>
            <a:off x="685800" y="2907792"/>
            <a:ext cx="3566160" cy="320040"/>
          </a:xfrm>
          <a:prstGeom prst="rect">
            <a:avLst/>
          </a:prstGeom>
          <a:noFill/>
          <a:ln/>
        </p:spPr>
        <p:txBody>
          <a:bodyPr wrap="square" lIns="0" tIns="0" rIns="0" bIns="0" rtlCol="0" anchor="t"/>
          <a:lstStyle/>
          <a:p>
            <a:pPr indent="0" marL="0">
              <a:buNone/>
            </a:pPr>
            <a:r>
              <a:rPr lang="en-US" sz="1500" b="1" dirty="0">
                <a:solidFill>
                  <a:schemeClr val="tx1"/>
                </a:solidFill>
              </a:rPr>
              <a:t>What this tells us</a:t>
            </a:r>
            <a:endParaRPr lang="en-US" sz="1500" dirty="0"/>
          </a:p>
        </p:txBody>
      </p:sp>
      <p:sp>
        <p:nvSpPr>
          <p:cNvPr id="11" name="Text 9"/>
          <p:cNvSpPr txBox="1"/>
          <p:nvPr/>
        </p:nvSpPr>
        <p:spPr>
          <a:xfrm>
            <a:off x="685800" y="3291840"/>
            <a:ext cx="3566160" cy="1143000"/>
          </a:xfrm>
          <a:prstGeom prst="rect">
            <a:avLst/>
          </a:prstGeom>
          <a:noFill/>
          <a:ln/>
        </p:spPr>
        <p:txBody>
          <a:bodyPr wrap="square" lIns="0" tIns="0" rIns="0" bIns="0" rtlCol="0" anchor="t"/>
          <a:lstStyle/>
          <a:p>
            <a:pPr indent="0" marL="0">
              <a:buNone/>
            </a:pPr>
            <a:r>
              <a:rPr lang="en-US" sz="1300" dirty="0">
                <a:solidFill>
                  <a:schemeClr val="tx1"/>
                </a:solidFill>
              </a:rPr>
              <a:t>When the model is wrong, the right part is almost always among its top 3 guesses. It mixes up similar parts – it is not guessing at random.</a:t>
            </a:r>
            <a:endParaRPr lang="en-US" sz="1300" dirty="0"/>
          </a:p>
        </p:txBody>
      </p:sp>
      <p:sp>
        <p:nvSpPr>
          <p:cNvPr id="12" name="Caveat card"/>
          <p:cNvSpPr/>
          <p:nvPr/>
        </p:nvSpPr>
        <p:spPr>
          <a:xfrm>
            <a:off x="4709160" y="2743200"/>
            <a:ext cx="3977640" cy="1783080"/>
          </a:xfrm>
          <a:prstGeom prst="roundRect">
            <a:avLst>
              <a:gd name="adj" fmla="val 4103"/>
            </a:avLst>
          </a:prstGeom>
          <a:solidFill>
            <a:schemeClr val="accent1">
              <a:alpha val="12000"/>
            </a:schemeClr>
          </a:solidFill>
          <a:ln w="12700">
            <a:solidFill>
              <a:schemeClr val="accent1">
                <a:alpha val="0"/>
              </a:schemeClr>
            </a:solidFill>
            <a:prstDash val="solid"/>
          </a:ln>
        </p:spPr>
      </p:sp>
      <p:sp>
        <p:nvSpPr>
          <p:cNvPr id="13" name="Text 11"/>
          <p:cNvSpPr txBox="1"/>
          <p:nvPr/>
        </p:nvSpPr>
        <p:spPr>
          <a:xfrm>
            <a:off x="4937760" y="2907792"/>
            <a:ext cx="3566160" cy="320040"/>
          </a:xfrm>
          <a:prstGeom prst="rect">
            <a:avLst/>
          </a:prstGeom>
          <a:noFill/>
          <a:ln/>
        </p:spPr>
        <p:txBody>
          <a:bodyPr wrap="square" lIns="0" tIns="0" rIns="0" bIns="0" rtlCol="0" anchor="t"/>
          <a:lstStyle/>
          <a:p>
            <a:pPr indent="0" marL="0">
              <a:buNone/>
            </a:pPr>
            <a:r>
              <a:rPr lang="en-US" sz="1500" b="1" dirty="0">
                <a:solidFill>
                  <a:schemeClr val="accent1"/>
                </a:solidFill>
              </a:rPr>
              <a:t>What it does not tell us</a:t>
            </a:r>
            <a:endParaRPr lang="en-US" sz="1500" dirty="0"/>
          </a:p>
        </p:txBody>
      </p:sp>
      <p:sp>
        <p:nvSpPr>
          <p:cNvPr id="14" name="Text 12"/>
          <p:cNvSpPr txBox="1"/>
          <p:nvPr/>
        </p:nvSpPr>
        <p:spPr>
          <a:xfrm>
            <a:off x="4937760" y="3291840"/>
            <a:ext cx="3566160" cy="1143000"/>
          </a:xfrm>
          <a:prstGeom prst="rect">
            <a:avLst/>
          </a:prstGeom>
          <a:noFill/>
          <a:ln/>
        </p:spPr>
        <p:txBody>
          <a:bodyPr wrap="square" lIns="0" tIns="0" rIns="0" bIns="0" rtlCol="0" anchor="t"/>
          <a:lstStyle/>
          <a:p>
            <a:pPr indent="0" marL="0">
              <a:buNone/>
            </a:pPr>
            <a:r>
              <a:rPr lang="en-US" sz="1300" dirty="0">
                <a:solidFill>
                  <a:schemeClr val="tx1"/>
                </a:solidFill>
              </a:rPr>
              <a:t>Trained on renders, tested on renders. This is not our real-world number – that comes from our own photos.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We expected look-alikes – we found length errors</a:t>
            </a:r>
            <a:endParaRPr lang="en-US" sz="2600" dirty="0"/>
          </a:p>
        </p:txBody>
      </p:sp>
      <p:sp>
        <p:nvSpPr>
          <p:cNvPr id="3" name="Text 1"/>
          <p:cNvSpPr txBox="1"/>
          <p:nvPr/>
        </p:nvSpPr>
        <p:spPr>
          <a:xfrm>
            <a:off x="457200" y="1097280"/>
            <a:ext cx="3749040" cy="320040"/>
          </a:xfrm>
          <a:prstGeom prst="rect">
            <a:avLst/>
          </a:prstGeom>
          <a:noFill/>
          <a:ln/>
        </p:spPr>
        <p:txBody>
          <a:bodyPr wrap="square" lIns="0" tIns="0" rIns="0" bIns="0" rtlCol="0" anchor="t"/>
          <a:lstStyle/>
          <a:p>
            <a:pPr indent="0" marL="0">
              <a:buNone/>
            </a:pPr>
            <a:r>
              <a:rPr lang="en-US" sz="1500" b="1" dirty="0">
                <a:solidFill>
                  <a:schemeClr val="tx1"/>
                </a:solidFill>
              </a:rPr>
              <a:t>Pairs we expected to be hard</a:t>
            </a:r>
            <a:endParaRPr lang="en-US" sz="1500" dirty="0"/>
          </a:p>
        </p:txBody>
      </p:sp>
      <p:graphicFrame>
        <p:nvGraphicFramePr>
          <p:cNvPr id="5" name="Expected pairs table"/>
          <p:cNvGraphicFramePr>
            <a:graphicFrameLocks noGrp="1"/>
          </p:cNvGraphicFramePr>
          <p:nvPr>
            <p:extLst>
              <p:ext uri="{D42A27DB-BD31-4B8C-83A1-F6EECF244321}">
                <p14:modId xmlns:p14="http://schemas.microsoft.com/office/powerpoint/2010/main" val="1579011935"/>
              </p:ext>
            </p:extLst>
          </p:nvPr>
        </p:nvGraphicFramePr>
        <p:xfrm>
          <a:off x="457200" y="1481328"/>
          <a:ext cx="3749040" cy="914400"/>
        </p:xfrm>
        <a:graphic>
          <a:graphicData uri="http://schemas.openxmlformats.org/drawingml/2006/table">
            <a:tbl>
              <a:tblPr/>
              <a:tblGrid>
                <a:gridCol w="2971800"/>
                <a:gridCol w="777240"/>
              </a:tblGrid>
              <a:tr h="347472">
                <a:tc>
                  <a:txBody>
                    <a:bodyPr/>
                    <a:lstStyle/>
                    <a:p>
                      <a:pPr indent="0" marL="0">
                        <a:buNone/>
                      </a:pPr>
                      <a:r>
                        <a:rPr lang="en-US" sz="1200" b="1" dirty="0">
                          <a:solidFill>
                            <a:schemeClr val="bg1"/>
                          </a:solidFill>
                        </a:rPr>
                        <a:t>Pair</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r" indent="0" marL="0">
                        <a:buNone/>
                      </a:pPr>
                      <a:r>
                        <a:rPr lang="en-US" sz="1200" b="1" dirty="0">
                          <a:solidFill>
                            <a:schemeClr val="bg1"/>
                          </a:solidFill>
                        </a:rPr>
                        <a:t>Errors</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tx2"/>
                    </a:solidFill>
                  </a:tcPr>
                </a:tc>
              </a:tr>
              <a:tr h="347472">
                <a:tc>
                  <a:txBody>
                    <a:bodyPr/>
                    <a:lstStyle/>
                    <a:p>
                      <a:pPr indent="0" marL="0">
                        <a:buNone/>
                      </a:pPr>
                      <a:r>
                        <a:rPr lang="en-US" sz="1200" dirty="0">
                          <a:solidFill>
                            <a:schemeClr val="tx1"/>
                          </a:solidFill>
                        </a:rPr>
                        <a:t>Round tile 2×2 (4150 vs 27925)</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b="1" dirty="0">
                          <a:solidFill>
                            <a:schemeClr val="tx1"/>
                          </a:solidFill>
                        </a:rPr>
                        <a:t>1</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347472">
                <a:tc>
                  <a:txBody>
                    <a:bodyPr/>
                    <a:lstStyle/>
                    <a:p>
                      <a:pPr indent="0" marL="0">
                        <a:buNone/>
                      </a:pPr>
                      <a:r>
                        <a:rPr lang="en-US" sz="1200" dirty="0">
                          <a:solidFill>
                            <a:schemeClr val="tx1"/>
                          </a:solidFill>
                        </a:rPr>
                        <a:t>Roof tile 1×2, three versions</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b="1" dirty="0">
                          <a:solidFill>
                            <a:schemeClr val="tx1"/>
                          </a:solidFill>
                        </a:rPr>
                        <a:t>0</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200" dirty="0">
                          <a:solidFill>
                            <a:schemeClr val="tx1"/>
                          </a:solidFill>
                        </a:rPr>
                        <a:t>Roof tile 2×3, two versions</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b="1" dirty="0">
                          <a:solidFill>
                            <a:schemeClr val="tx1"/>
                          </a:solidFill>
                        </a:rPr>
                        <a:t>0</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347472">
                <a:tc>
                  <a:txBody>
                    <a:bodyPr/>
                    <a:lstStyle/>
                    <a:p>
                      <a:pPr indent="0" marL="0">
                        <a:buNone/>
                      </a:pPr>
                      <a:r>
                        <a:rPr lang="en-US" sz="1200" dirty="0">
                          <a:solidFill>
                            <a:schemeClr val="tx1"/>
                          </a:solidFill>
                        </a:rPr>
                        <a:t>Plate / tile / jumper 1×2</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b="1" dirty="0">
                          <a:solidFill>
                            <a:schemeClr val="tx1"/>
                          </a:solidFill>
                        </a:rPr>
                        <a:t>0</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200" dirty="0">
                          <a:solidFill>
                            <a:schemeClr val="tx1"/>
                          </a:solidFill>
                        </a:rPr>
                        <a:t>Brick vs Technic brick 1×2</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b="1" dirty="0">
                          <a:solidFill>
                            <a:schemeClr val="tx1"/>
                          </a:solidFill>
                        </a:rPr>
                        <a:t>2</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5" name="Text 2"/>
          <p:cNvSpPr txBox="1"/>
          <p:nvPr/>
        </p:nvSpPr>
        <p:spPr>
          <a:xfrm>
            <a:off x="457200" y="3675888"/>
            <a:ext cx="3749040" cy="274320"/>
          </a:xfrm>
          <a:prstGeom prst="rect">
            <a:avLst/>
          </a:prstGeom>
          <a:noFill/>
          <a:ln/>
        </p:spPr>
        <p:txBody>
          <a:bodyPr wrap="square" lIns="0" tIns="0" rIns="0" bIns="0" rtlCol="0" anchor="t"/>
          <a:lstStyle/>
          <a:p>
            <a:pPr indent="0" marL="0">
              <a:buNone/>
            </a:pPr>
            <a:r>
              <a:rPr lang="en-US" sz="1200" i="1" dirty="0">
                <a:solidFill>
                  <a:schemeClr val="accent4"/>
                </a:solidFill>
              </a:rPr>
              <a:t>Fine details are not the problem.</a:t>
            </a:r>
            <a:endParaRPr lang="en-US" sz="1200" dirty="0"/>
          </a:p>
        </p:txBody>
      </p:sp>
      <p:sp>
        <p:nvSpPr>
          <p:cNvPr id="6" name="Text 3"/>
          <p:cNvSpPr txBox="1"/>
          <p:nvPr/>
        </p:nvSpPr>
        <p:spPr>
          <a:xfrm>
            <a:off x="4572000" y="1097280"/>
            <a:ext cx="4114800" cy="320040"/>
          </a:xfrm>
          <a:prstGeom prst="rect">
            <a:avLst/>
          </a:prstGeom>
          <a:noFill/>
          <a:ln/>
        </p:spPr>
        <p:txBody>
          <a:bodyPr wrap="square" lIns="0" tIns="0" rIns="0" bIns="0" rtlCol="0" anchor="t"/>
          <a:lstStyle/>
          <a:p>
            <a:pPr indent="0" marL="0">
              <a:buNone/>
            </a:pPr>
            <a:r>
              <a:rPr lang="en-US" sz="1500" b="1" dirty="0">
                <a:solidFill>
                  <a:schemeClr val="tx1"/>
                </a:solidFill>
              </a:rPr>
              <a:t>Pairs that were actually confused</a:t>
            </a:r>
            <a:endParaRPr lang="en-US" sz="1500" dirty="0"/>
          </a:p>
        </p:txBody>
      </p:sp>
      <p:graphicFrame>
        <p:nvGraphicFramePr>
          <p:cNvPr id="7" name="Top confused pairs chart" descr=""/>
          <p:cNvGraphicFramePr/>
          <p:nvPr/>
        </p:nvGraphicFramePr>
        <p:xfrm>
          <a:off x="4572000" y="1417320"/>
          <a:ext cx="4114800" cy="2514600"/>
        </p:xfrm>
        <a:graphic xmlns:a="http://schemas.openxmlformats.org/drawingml/2006/main">
          <a:graphicData uri="http://schemas.openxmlformats.org/drawingml/2006/chart">
            <c:chart xmlns:c="http://schemas.openxmlformats.org/drawingml/2006/chart" r:id="rId1"/>
          </a:graphicData>
        </a:graphic>
      </p:graphicFrame>
      <p:sp>
        <p:nvSpPr>
          <p:cNvPr id="8" name="Key finding band"/>
          <p:cNvSpPr/>
          <p:nvPr/>
        </p:nvSpPr>
        <p:spPr>
          <a:xfrm>
            <a:off x="457200" y="4069080"/>
            <a:ext cx="8229600" cy="548640"/>
          </a:xfrm>
          <a:prstGeom prst="roundRect">
            <a:avLst>
              <a:gd name="adj" fmla="val 13333"/>
            </a:avLst>
          </a:prstGeom>
          <a:solidFill>
            <a:schemeClr val="accent1">
              <a:alpha val="12000"/>
            </a:schemeClr>
          </a:solidFill>
          <a:ln w="12700">
            <a:solidFill>
              <a:schemeClr val="accent1">
                <a:alpha val="0"/>
              </a:schemeClr>
            </a:solidFill>
            <a:prstDash val="solid"/>
          </a:ln>
        </p:spPr>
      </p:sp>
      <p:sp>
        <p:nvSpPr>
          <p:cNvPr id="9" name="Text 5"/>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500" b="1" dirty="0">
                <a:solidFill>
                  <a:schemeClr val="accent1"/>
                </a:solidFill>
              </a:rPr>
              <a:t>115 of 252 errors (46 %): </a:t>
            </a:r>
            <a:pPr indent="0" marL="0">
              <a:buNone/>
            </a:pPr>
            <a:r>
              <a:rPr lang="en-US" sz="1500" dirty="0">
                <a:solidFill>
                  <a:schemeClr val="tx1"/>
                </a:solidFill>
              </a:rPr>
              <a:t>same part type, different length.</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Why: our preprocessing threw away the size</a:t>
            </a:r>
            <a:endParaRPr lang="en-US" sz="2600" dirty="0"/>
          </a:p>
        </p:txBody>
      </p:sp>
      <p:sp>
        <p:nvSpPr>
          <p:cNvPr id="3" name="Text 1"/>
          <p:cNvSpPr txBox="1"/>
          <p:nvPr/>
        </p:nvSpPr>
        <p:spPr>
          <a:xfrm>
            <a:off x="457200" y="1097280"/>
            <a:ext cx="1828800" cy="274320"/>
          </a:xfrm>
          <a:prstGeom prst="rect">
            <a:avLst/>
          </a:prstGeom>
          <a:noFill/>
          <a:ln/>
        </p:spPr>
        <p:txBody>
          <a:bodyPr wrap="square" lIns="0" tIns="0" rIns="0" bIns="0" rtlCol="0" anchor="t"/>
          <a:lstStyle/>
          <a:p>
            <a:pPr indent="0" marL="0">
              <a:buNone/>
            </a:pPr>
            <a:r>
              <a:rPr lang="en-US" sz="1200" b="1" dirty="0">
                <a:solidFill>
                  <a:schemeClr val="accent4"/>
                </a:solidFill>
              </a:rPr>
              <a:t>Before resize</a:t>
            </a:r>
            <a:endParaRPr lang="en-US" sz="1200" dirty="0"/>
          </a:p>
        </p:txBody>
      </p:sp>
      <p:sp>
        <p:nvSpPr>
          <p:cNvPr id="4" name="Text 2"/>
          <p:cNvSpPr txBox="1"/>
          <p:nvPr/>
        </p:nvSpPr>
        <p:spPr>
          <a:xfrm>
            <a:off x="2697480" y="1097280"/>
            <a:ext cx="1920240" cy="274320"/>
          </a:xfrm>
          <a:prstGeom prst="rect">
            <a:avLst/>
          </a:prstGeom>
          <a:noFill/>
          <a:ln/>
        </p:spPr>
        <p:txBody>
          <a:bodyPr wrap="square" lIns="0" tIns="0" rIns="0" bIns="0" rtlCol="0" anchor="t"/>
          <a:lstStyle/>
          <a:p>
            <a:pPr indent="0" marL="0">
              <a:buNone/>
            </a:pPr>
            <a:r>
              <a:rPr lang="en-US" sz="1200" b="1" dirty="0">
                <a:solidFill>
                  <a:schemeClr val="accent4"/>
                </a:solidFill>
              </a:rPr>
              <a:t>After resize to 96 × 96</a:t>
            </a:r>
            <a:endParaRPr lang="en-US" sz="1200" dirty="0"/>
          </a:p>
        </p:txBody>
      </p:sp>
      <p:sp>
        <p:nvSpPr>
          <p:cNvPr id="5" name="Before frame 1"/>
          <p:cNvSpPr/>
          <p:nvPr/>
        </p:nvSpPr>
        <p:spPr>
          <a:xfrm>
            <a:off x="457200" y="1417320"/>
            <a:ext cx="1234440" cy="1234440"/>
          </a:xfrm>
          <a:prstGeom prst="roundRect">
            <a:avLst>
              <a:gd name="adj" fmla="val 5926"/>
            </a:avLst>
          </a:prstGeom>
          <a:solidFill>
            <a:schemeClr val="bg2"/>
          </a:solidFill>
          <a:ln w="12700">
            <a:solidFill>
              <a:schemeClr val="bg2">
                <a:alpha val="0"/>
              </a:schemeClr>
            </a:solidFill>
            <a:prstDash val="solid"/>
          </a:ln>
        </p:spPr>
      </p:sp>
      <p:sp>
        <p:nvSpPr>
          <p:cNvPr id="6" name="Before brick 1"/>
          <p:cNvSpPr/>
          <p:nvPr/>
        </p:nvSpPr>
        <p:spPr>
          <a:xfrm>
            <a:off x="594360" y="1915668"/>
            <a:ext cx="960120" cy="237744"/>
          </a:xfrm>
          <a:prstGeom prst="rect">
            <a:avLst/>
          </a:prstGeom>
          <a:solidFill>
            <a:schemeClr val="accent1"/>
          </a:solidFill>
          <a:ln w="12700">
            <a:solidFill>
              <a:schemeClr val="accent1"/>
            </a:solidFill>
            <a:prstDash val="solid"/>
          </a:ln>
        </p:spPr>
      </p:sp>
      <p:sp>
        <p:nvSpPr>
          <p:cNvPr id="7" name="Before brick 1 stud 1"/>
          <p:cNvSpPr/>
          <p:nvPr/>
        </p:nvSpPr>
        <p:spPr>
          <a:xfrm>
            <a:off x="640674" y="1960839"/>
            <a:ext cx="147401" cy="147401"/>
          </a:xfrm>
          <a:prstGeom prst="ellipse">
            <a:avLst/>
          </a:prstGeom>
          <a:solidFill>
            <a:schemeClr val="bg1">
              <a:alpha val="28000"/>
            </a:schemeClr>
          </a:solidFill>
          <a:ln w="12700">
            <a:solidFill>
              <a:schemeClr val="bg1">
                <a:alpha val="0"/>
              </a:schemeClr>
            </a:solidFill>
            <a:prstDash val="solid"/>
          </a:ln>
        </p:spPr>
      </p:sp>
      <p:sp>
        <p:nvSpPr>
          <p:cNvPr id="8" name="Before brick 1 stud 2"/>
          <p:cNvSpPr/>
          <p:nvPr/>
        </p:nvSpPr>
        <p:spPr>
          <a:xfrm>
            <a:off x="880704" y="1960839"/>
            <a:ext cx="147401" cy="147401"/>
          </a:xfrm>
          <a:prstGeom prst="ellipse">
            <a:avLst/>
          </a:prstGeom>
          <a:solidFill>
            <a:schemeClr val="bg1">
              <a:alpha val="28000"/>
            </a:schemeClr>
          </a:solidFill>
          <a:ln w="12700">
            <a:solidFill>
              <a:schemeClr val="bg1">
                <a:alpha val="0"/>
              </a:schemeClr>
            </a:solidFill>
            <a:prstDash val="solid"/>
          </a:ln>
        </p:spPr>
      </p:sp>
      <p:sp>
        <p:nvSpPr>
          <p:cNvPr id="9" name="Before brick 1 stud 3"/>
          <p:cNvSpPr/>
          <p:nvPr/>
        </p:nvSpPr>
        <p:spPr>
          <a:xfrm>
            <a:off x="1120734" y="1960839"/>
            <a:ext cx="147401" cy="147401"/>
          </a:xfrm>
          <a:prstGeom prst="ellipse">
            <a:avLst/>
          </a:prstGeom>
          <a:solidFill>
            <a:schemeClr val="bg1">
              <a:alpha val="28000"/>
            </a:schemeClr>
          </a:solidFill>
          <a:ln w="12700">
            <a:solidFill>
              <a:schemeClr val="bg1">
                <a:alpha val="0"/>
              </a:schemeClr>
            </a:solidFill>
            <a:prstDash val="solid"/>
          </a:ln>
        </p:spPr>
      </p:sp>
      <p:sp>
        <p:nvSpPr>
          <p:cNvPr id="10" name="Before brick 1 stud 4"/>
          <p:cNvSpPr/>
          <p:nvPr/>
        </p:nvSpPr>
        <p:spPr>
          <a:xfrm>
            <a:off x="1360764" y="1960839"/>
            <a:ext cx="147401" cy="147401"/>
          </a:xfrm>
          <a:prstGeom prst="ellipse">
            <a:avLst/>
          </a:prstGeom>
          <a:solidFill>
            <a:schemeClr val="bg1">
              <a:alpha val="28000"/>
            </a:schemeClr>
          </a:solidFill>
          <a:ln w="12700">
            <a:solidFill>
              <a:schemeClr val="bg1">
                <a:alpha val="0"/>
              </a:schemeClr>
            </a:solidFill>
            <a:prstDash val="solid"/>
          </a:ln>
        </p:spPr>
      </p:sp>
      <p:sp>
        <p:nvSpPr>
          <p:cNvPr id="11" name="After frame 1"/>
          <p:cNvSpPr/>
          <p:nvPr/>
        </p:nvSpPr>
        <p:spPr>
          <a:xfrm>
            <a:off x="2697480" y="1417320"/>
            <a:ext cx="1234440" cy="1234440"/>
          </a:xfrm>
          <a:prstGeom prst="roundRect">
            <a:avLst>
              <a:gd name="adj" fmla="val 5926"/>
            </a:avLst>
          </a:prstGeom>
          <a:solidFill>
            <a:schemeClr val="bg2"/>
          </a:solidFill>
          <a:ln w="12700">
            <a:solidFill>
              <a:schemeClr val="bg2">
                <a:alpha val="0"/>
              </a:schemeClr>
            </a:solidFill>
            <a:prstDash val="solid"/>
          </a:ln>
        </p:spPr>
      </p:sp>
      <p:sp>
        <p:nvSpPr>
          <p:cNvPr id="12" name="After brick 1"/>
          <p:cNvSpPr/>
          <p:nvPr/>
        </p:nvSpPr>
        <p:spPr>
          <a:xfrm>
            <a:off x="2788920" y="1903095"/>
            <a:ext cx="1051560" cy="262890"/>
          </a:xfrm>
          <a:prstGeom prst="rect">
            <a:avLst/>
          </a:prstGeom>
          <a:solidFill>
            <a:schemeClr val="accent1"/>
          </a:solidFill>
          <a:ln w="12700">
            <a:solidFill>
              <a:schemeClr val="accent1"/>
            </a:solidFill>
            <a:prstDash val="solid"/>
          </a:ln>
        </p:spPr>
      </p:sp>
      <p:sp>
        <p:nvSpPr>
          <p:cNvPr id="13" name="After brick 1 stud 1"/>
          <p:cNvSpPr/>
          <p:nvPr/>
        </p:nvSpPr>
        <p:spPr>
          <a:xfrm>
            <a:off x="2838869" y="1953044"/>
            <a:ext cx="162992" cy="162992"/>
          </a:xfrm>
          <a:prstGeom prst="ellipse">
            <a:avLst/>
          </a:prstGeom>
          <a:solidFill>
            <a:schemeClr val="bg1">
              <a:alpha val="28000"/>
            </a:schemeClr>
          </a:solidFill>
          <a:ln w="12700">
            <a:solidFill>
              <a:schemeClr val="bg1">
                <a:alpha val="0"/>
              </a:schemeClr>
            </a:solidFill>
            <a:prstDash val="solid"/>
          </a:ln>
        </p:spPr>
      </p:sp>
      <p:sp>
        <p:nvSpPr>
          <p:cNvPr id="14" name="After brick 1 stud 2"/>
          <p:cNvSpPr/>
          <p:nvPr/>
        </p:nvSpPr>
        <p:spPr>
          <a:xfrm>
            <a:off x="3101759" y="1953044"/>
            <a:ext cx="162992" cy="162992"/>
          </a:xfrm>
          <a:prstGeom prst="ellipse">
            <a:avLst/>
          </a:prstGeom>
          <a:solidFill>
            <a:schemeClr val="bg1">
              <a:alpha val="28000"/>
            </a:schemeClr>
          </a:solidFill>
          <a:ln w="12700">
            <a:solidFill>
              <a:schemeClr val="bg1">
                <a:alpha val="0"/>
              </a:schemeClr>
            </a:solidFill>
            <a:prstDash val="solid"/>
          </a:ln>
        </p:spPr>
      </p:sp>
      <p:sp>
        <p:nvSpPr>
          <p:cNvPr id="15" name="After brick 1 stud 3"/>
          <p:cNvSpPr/>
          <p:nvPr/>
        </p:nvSpPr>
        <p:spPr>
          <a:xfrm>
            <a:off x="3364649" y="1953044"/>
            <a:ext cx="162992" cy="162992"/>
          </a:xfrm>
          <a:prstGeom prst="ellipse">
            <a:avLst/>
          </a:prstGeom>
          <a:solidFill>
            <a:schemeClr val="bg1">
              <a:alpha val="28000"/>
            </a:schemeClr>
          </a:solidFill>
          <a:ln w="12700">
            <a:solidFill>
              <a:schemeClr val="bg1">
                <a:alpha val="0"/>
              </a:schemeClr>
            </a:solidFill>
            <a:prstDash val="solid"/>
          </a:ln>
        </p:spPr>
      </p:sp>
      <p:sp>
        <p:nvSpPr>
          <p:cNvPr id="16" name="After brick 1 stud 4"/>
          <p:cNvSpPr/>
          <p:nvPr/>
        </p:nvSpPr>
        <p:spPr>
          <a:xfrm>
            <a:off x="3627539" y="1953044"/>
            <a:ext cx="162992" cy="162992"/>
          </a:xfrm>
          <a:prstGeom prst="ellipse">
            <a:avLst/>
          </a:prstGeom>
          <a:solidFill>
            <a:schemeClr val="bg1">
              <a:alpha val="28000"/>
            </a:schemeClr>
          </a:solidFill>
          <a:ln w="12700">
            <a:solidFill>
              <a:schemeClr val="bg1">
                <a:alpha val="0"/>
              </a:schemeClr>
            </a:solidFill>
            <a:prstDash val="solid"/>
          </a:ln>
        </p:spPr>
      </p:sp>
      <p:sp>
        <p:nvSpPr>
          <p:cNvPr id="17" name="Resize arrow 1"/>
          <p:cNvSpPr/>
          <p:nvPr/>
        </p:nvSpPr>
        <p:spPr>
          <a:xfrm>
            <a:off x="1965960" y="1915668"/>
            <a:ext cx="146304" cy="237744"/>
          </a:xfrm>
          <a:prstGeom prst="chevron">
            <a:avLst/>
          </a:prstGeom>
          <a:solidFill>
            <a:schemeClr val="accent4"/>
          </a:solidFill>
          <a:ln w="12700">
            <a:solidFill>
              <a:schemeClr val="accent4"/>
            </a:solidFill>
            <a:prstDash val="solid"/>
          </a:ln>
        </p:spPr>
      </p:sp>
      <p:sp>
        <p:nvSpPr>
          <p:cNvPr id="18" name="Text 16"/>
          <p:cNvSpPr txBox="1"/>
          <p:nvPr/>
        </p:nvSpPr>
        <p:spPr>
          <a:xfrm>
            <a:off x="4023360" y="1897380"/>
            <a:ext cx="914400" cy="274320"/>
          </a:xfrm>
          <a:prstGeom prst="rect">
            <a:avLst/>
          </a:prstGeom>
          <a:noFill/>
          <a:ln/>
        </p:spPr>
        <p:txBody>
          <a:bodyPr wrap="square" lIns="0" tIns="0" rIns="0" bIns="0" rtlCol="0" anchor="ctr"/>
          <a:lstStyle/>
          <a:p>
            <a:pPr indent="0" marL="0">
              <a:buNone/>
            </a:pPr>
            <a:r>
              <a:rPr lang="en-US" sz="1200" dirty="0">
                <a:solidFill>
                  <a:schemeClr val="tx1"/>
                </a:solidFill>
              </a:rPr>
              <a:t>1×4 brick</a:t>
            </a:r>
            <a:endParaRPr lang="en-US" sz="1200" dirty="0"/>
          </a:p>
        </p:txBody>
      </p:sp>
      <p:sp>
        <p:nvSpPr>
          <p:cNvPr id="19" name="Before frame 2"/>
          <p:cNvSpPr/>
          <p:nvPr/>
        </p:nvSpPr>
        <p:spPr>
          <a:xfrm>
            <a:off x="457200" y="3017520"/>
            <a:ext cx="1234440" cy="1234440"/>
          </a:xfrm>
          <a:prstGeom prst="roundRect">
            <a:avLst>
              <a:gd name="adj" fmla="val 5926"/>
            </a:avLst>
          </a:prstGeom>
          <a:solidFill>
            <a:schemeClr val="bg2"/>
          </a:solidFill>
          <a:ln w="12700">
            <a:solidFill>
              <a:schemeClr val="bg2">
                <a:alpha val="0"/>
              </a:schemeClr>
            </a:solidFill>
            <a:prstDash val="solid"/>
          </a:ln>
        </p:spPr>
      </p:sp>
      <p:sp>
        <p:nvSpPr>
          <p:cNvPr id="20" name="Before brick 2"/>
          <p:cNvSpPr/>
          <p:nvPr/>
        </p:nvSpPr>
        <p:spPr>
          <a:xfrm>
            <a:off x="713232" y="3515868"/>
            <a:ext cx="722376" cy="237744"/>
          </a:xfrm>
          <a:prstGeom prst="rect">
            <a:avLst/>
          </a:prstGeom>
          <a:solidFill>
            <a:schemeClr val="accent1"/>
          </a:solidFill>
          <a:ln w="12700">
            <a:solidFill>
              <a:schemeClr val="accent1"/>
            </a:solidFill>
            <a:prstDash val="solid"/>
          </a:ln>
        </p:spPr>
      </p:sp>
      <p:sp>
        <p:nvSpPr>
          <p:cNvPr id="21" name="Before brick 2 stud 1"/>
          <p:cNvSpPr/>
          <p:nvPr/>
        </p:nvSpPr>
        <p:spPr>
          <a:xfrm>
            <a:off x="759927" y="3561039"/>
            <a:ext cx="147401" cy="147401"/>
          </a:xfrm>
          <a:prstGeom prst="ellipse">
            <a:avLst/>
          </a:prstGeom>
          <a:solidFill>
            <a:schemeClr val="bg1">
              <a:alpha val="28000"/>
            </a:schemeClr>
          </a:solidFill>
          <a:ln w="12700">
            <a:solidFill>
              <a:schemeClr val="bg1">
                <a:alpha val="0"/>
              </a:schemeClr>
            </a:solidFill>
            <a:prstDash val="solid"/>
          </a:ln>
        </p:spPr>
      </p:sp>
      <p:sp>
        <p:nvSpPr>
          <p:cNvPr id="22" name="Before brick 2 stud 2"/>
          <p:cNvSpPr/>
          <p:nvPr/>
        </p:nvSpPr>
        <p:spPr>
          <a:xfrm>
            <a:off x="1000719" y="3561039"/>
            <a:ext cx="147401" cy="147401"/>
          </a:xfrm>
          <a:prstGeom prst="ellipse">
            <a:avLst/>
          </a:prstGeom>
          <a:solidFill>
            <a:schemeClr val="bg1">
              <a:alpha val="28000"/>
            </a:schemeClr>
          </a:solidFill>
          <a:ln w="12700">
            <a:solidFill>
              <a:schemeClr val="bg1">
                <a:alpha val="0"/>
              </a:schemeClr>
            </a:solidFill>
            <a:prstDash val="solid"/>
          </a:ln>
        </p:spPr>
      </p:sp>
      <p:sp>
        <p:nvSpPr>
          <p:cNvPr id="23" name="Before brick 2 stud 3"/>
          <p:cNvSpPr/>
          <p:nvPr/>
        </p:nvSpPr>
        <p:spPr>
          <a:xfrm>
            <a:off x="1241511" y="3561039"/>
            <a:ext cx="147401" cy="147401"/>
          </a:xfrm>
          <a:prstGeom prst="ellipse">
            <a:avLst/>
          </a:prstGeom>
          <a:solidFill>
            <a:schemeClr val="bg1">
              <a:alpha val="28000"/>
            </a:schemeClr>
          </a:solidFill>
          <a:ln w="12700">
            <a:solidFill>
              <a:schemeClr val="bg1">
                <a:alpha val="0"/>
              </a:schemeClr>
            </a:solidFill>
            <a:prstDash val="solid"/>
          </a:ln>
        </p:spPr>
      </p:sp>
      <p:sp>
        <p:nvSpPr>
          <p:cNvPr id="24" name="After frame 2"/>
          <p:cNvSpPr/>
          <p:nvPr/>
        </p:nvSpPr>
        <p:spPr>
          <a:xfrm>
            <a:off x="2697480" y="3017520"/>
            <a:ext cx="1234440" cy="1234440"/>
          </a:xfrm>
          <a:prstGeom prst="roundRect">
            <a:avLst>
              <a:gd name="adj" fmla="val 5926"/>
            </a:avLst>
          </a:prstGeom>
          <a:solidFill>
            <a:schemeClr val="bg2"/>
          </a:solidFill>
          <a:ln w="12700">
            <a:solidFill>
              <a:schemeClr val="bg2">
                <a:alpha val="0"/>
              </a:schemeClr>
            </a:solidFill>
            <a:prstDash val="solid"/>
          </a:ln>
        </p:spPr>
      </p:sp>
      <p:sp>
        <p:nvSpPr>
          <p:cNvPr id="25" name="After brick 2"/>
          <p:cNvSpPr/>
          <p:nvPr/>
        </p:nvSpPr>
        <p:spPr>
          <a:xfrm>
            <a:off x="2788920" y="3459480"/>
            <a:ext cx="1051560" cy="350520"/>
          </a:xfrm>
          <a:prstGeom prst="rect">
            <a:avLst/>
          </a:prstGeom>
          <a:solidFill>
            <a:schemeClr val="accent1"/>
          </a:solidFill>
          <a:ln w="12700">
            <a:solidFill>
              <a:schemeClr val="accent1"/>
            </a:solidFill>
            <a:prstDash val="solid"/>
          </a:ln>
        </p:spPr>
      </p:sp>
      <p:sp>
        <p:nvSpPr>
          <p:cNvPr id="26" name="After brick 2 stud 1"/>
          <p:cNvSpPr/>
          <p:nvPr/>
        </p:nvSpPr>
        <p:spPr>
          <a:xfrm>
            <a:off x="2855519" y="3526079"/>
            <a:ext cx="217322" cy="217322"/>
          </a:xfrm>
          <a:prstGeom prst="ellipse">
            <a:avLst/>
          </a:prstGeom>
          <a:solidFill>
            <a:schemeClr val="bg1">
              <a:alpha val="28000"/>
            </a:schemeClr>
          </a:solidFill>
          <a:ln w="12700">
            <a:solidFill>
              <a:schemeClr val="bg1">
                <a:alpha val="0"/>
              </a:schemeClr>
            </a:solidFill>
            <a:prstDash val="solid"/>
          </a:ln>
        </p:spPr>
      </p:sp>
      <p:sp>
        <p:nvSpPr>
          <p:cNvPr id="27" name="After brick 2 stud 2"/>
          <p:cNvSpPr/>
          <p:nvPr/>
        </p:nvSpPr>
        <p:spPr>
          <a:xfrm>
            <a:off x="3206039" y="3526079"/>
            <a:ext cx="217322" cy="217322"/>
          </a:xfrm>
          <a:prstGeom prst="ellipse">
            <a:avLst/>
          </a:prstGeom>
          <a:solidFill>
            <a:schemeClr val="bg1">
              <a:alpha val="28000"/>
            </a:schemeClr>
          </a:solidFill>
          <a:ln w="12700">
            <a:solidFill>
              <a:schemeClr val="bg1">
                <a:alpha val="0"/>
              </a:schemeClr>
            </a:solidFill>
            <a:prstDash val="solid"/>
          </a:ln>
        </p:spPr>
      </p:sp>
      <p:sp>
        <p:nvSpPr>
          <p:cNvPr id="28" name="After brick 2 stud 3"/>
          <p:cNvSpPr/>
          <p:nvPr/>
        </p:nvSpPr>
        <p:spPr>
          <a:xfrm>
            <a:off x="3556559" y="3526079"/>
            <a:ext cx="217322" cy="217322"/>
          </a:xfrm>
          <a:prstGeom prst="ellipse">
            <a:avLst/>
          </a:prstGeom>
          <a:solidFill>
            <a:schemeClr val="bg1">
              <a:alpha val="28000"/>
            </a:schemeClr>
          </a:solidFill>
          <a:ln w="12700">
            <a:solidFill>
              <a:schemeClr val="bg1">
                <a:alpha val="0"/>
              </a:schemeClr>
            </a:solidFill>
            <a:prstDash val="solid"/>
          </a:ln>
        </p:spPr>
      </p:sp>
      <p:sp>
        <p:nvSpPr>
          <p:cNvPr id="29" name="Resize arrow 2"/>
          <p:cNvSpPr/>
          <p:nvPr/>
        </p:nvSpPr>
        <p:spPr>
          <a:xfrm>
            <a:off x="1965960" y="3515868"/>
            <a:ext cx="146304" cy="237744"/>
          </a:xfrm>
          <a:prstGeom prst="chevron">
            <a:avLst/>
          </a:prstGeom>
          <a:solidFill>
            <a:schemeClr val="accent4"/>
          </a:solidFill>
          <a:ln w="12700">
            <a:solidFill>
              <a:schemeClr val="accent4"/>
            </a:solidFill>
            <a:prstDash val="solid"/>
          </a:ln>
        </p:spPr>
      </p:sp>
      <p:sp>
        <p:nvSpPr>
          <p:cNvPr id="30" name="Text 28"/>
          <p:cNvSpPr txBox="1"/>
          <p:nvPr/>
        </p:nvSpPr>
        <p:spPr>
          <a:xfrm>
            <a:off x="4023360" y="3497580"/>
            <a:ext cx="914400" cy="274320"/>
          </a:xfrm>
          <a:prstGeom prst="rect">
            <a:avLst/>
          </a:prstGeom>
          <a:noFill/>
          <a:ln/>
        </p:spPr>
        <p:txBody>
          <a:bodyPr wrap="square" lIns="0" tIns="0" rIns="0" bIns="0" rtlCol="0" anchor="ctr"/>
          <a:lstStyle/>
          <a:p>
            <a:pPr indent="0" marL="0">
              <a:buNone/>
            </a:pPr>
            <a:r>
              <a:rPr lang="en-US" sz="1200" dirty="0">
                <a:solidFill>
                  <a:schemeClr val="tx1"/>
                </a:solidFill>
              </a:rPr>
              <a:t>1×3 brick</a:t>
            </a:r>
            <a:endParaRPr lang="en-US" sz="1200" dirty="0"/>
          </a:p>
        </p:txBody>
      </p:sp>
      <p:sp>
        <p:nvSpPr>
          <p:cNvPr id="31" name="Text 29"/>
          <p:cNvSpPr txBox="1"/>
          <p:nvPr/>
        </p:nvSpPr>
        <p:spPr>
          <a:xfrm>
            <a:off x="5120640" y="1097280"/>
            <a:ext cx="3566160" cy="274320"/>
          </a:xfrm>
          <a:prstGeom prst="rect">
            <a:avLst/>
          </a:prstGeom>
          <a:noFill/>
          <a:ln/>
        </p:spPr>
        <p:txBody>
          <a:bodyPr wrap="square" lIns="0" tIns="0" rIns="0" bIns="0" rtlCol="0" anchor="t"/>
          <a:lstStyle/>
          <a:p>
            <a:pPr indent="0" marL="0">
              <a:buNone/>
            </a:pPr>
            <a:r>
              <a:rPr lang="en-US" sz="1500" b="1" dirty="0">
                <a:solidFill>
                  <a:schemeClr val="tx1"/>
                </a:solidFill>
              </a:rPr>
              <a:t>Check: do the renders keep the true size?</a:t>
            </a:r>
            <a:endParaRPr lang="en-US" sz="1500" dirty="0"/>
          </a:p>
        </p:txBody>
      </p:sp>
      <p:graphicFrame>
        <p:nvGraphicFramePr>
          <p:cNvPr id="6" name="Size check table"/>
          <p:cNvGraphicFramePr>
            <a:graphicFrameLocks noGrp="1"/>
          </p:cNvGraphicFramePr>
          <p:nvPr>
            <p:extLst>
              <p:ext uri="{D42A27DB-BD31-4B8C-83A1-F6EECF244321}">
                <p14:modId xmlns:p14="http://schemas.microsoft.com/office/powerpoint/2010/main" val="1579011935"/>
              </p:ext>
            </p:extLst>
          </p:nvPr>
        </p:nvGraphicFramePr>
        <p:xfrm>
          <a:off x="5120640" y="1463040"/>
          <a:ext cx="3566160" cy="914400"/>
        </p:xfrm>
        <a:graphic>
          <a:graphicData uri="http://schemas.openxmlformats.org/drawingml/2006/table">
            <a:tbl>
              <a:tblPr/>
              <a:tblGrid>
                <a:gridCol w="1737360"/>
                <a:gridCol w="914400"/>
                <a:gridCol w="914400"/>
              </a:tblGrid>
              <a:tr h="347472">
                <a:tc>
                  <a:txBody>
                    <a:bodyPr/>
                    <a:lstStyle/>
                    <a:p>
                      <a:pPr indent="0" marL="0">
                        <a:buNone/>
                      </a:pPr>
                      <a:r>
                        <a:rPr lang="en-US" sz="1200" b="1" dirty="0">
                          <a:solidFill>
                            <a:schemeClr val="bg1"/>
                          </a:solidFill>
                        </a:rPr>
                        <a:t>Size ratio</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r" indent="0" marL="0">
                        <a:buNone/>
                      </a:pPr>
                      <a:r>
                        <a:rPr lang="en-US" sz="1200" b="1" dirty="0">
                          <a:solidFill>
                            <a:schemeClr val="bg1"/>
                          </a:solidFill>
                        </a:rPr>
                        <a:t>Measured</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r" indent="0" marL="0">
                        <a:buNone/>
                      </a:pPr>
                      <a:r>
                        <a:rPr lang="en-US" sz="1200" b="1" dirty="0">
                          <a:solidFill>
                            <a:schemeClr val="bg1"/>
                          </a:solidFill>
                        </a:rPr>
                        <a:t>Geometry</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tx2"/>
                    </a:solidFill>
                  </a:tcPr>
                </a:tc>
              </a:tr>
              <a:tr h="347472">
                <a:tc>
                  <a:txBody>
                    <a:bodyPr/>
                    <a:lstStyle/>
                    <a:p>
                      <a:pPr algn="l" indent="0" marL="0">
                        <a:buNone/>
                      </a:pPr>
                      <a:r>
                        <a:rPr lang="en-US" sz="1200" dirty="0">
                          <a:solidFill>
                            <a:schemeClr val="tx1"/>
                          </a:solidFill>
                        </a:rPr>
                        <a:t>Brick 2×4 / 2×3</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b="1" dirty="0">
                          <a:solidFill>
                            <a:schemeClr val="tx1"/>
                          </a:solidFill>
                        </a:rPr>
                        <a:t>1.22</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rPr>
                        <a:t>1.24</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347472">
                <a:tc>
                  <a:txBody>
                    <a:bodyPr/>
                    <a:lstStyle/>
                    <a:p>
                      <a:pPr algn="l" indent="0" marL="0">
                        <a:buNone/>
                      </a:pPr>
                      <a:r>
                        <a:rPr lang="en-US" sz="1200" dirty="0">
                          <a:solidFill>
                            <a:schemeClr val="tx1"/>
                          </a:solidFill>
                        </a:rPr>
                        <a:t>Brick 1×4 / 1×3</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b="1" dirty="0">
                          <a:solidFill>
                            <a:schemeClr val="tx1"/>
                          </a:solidFill>
                        </a:rPr>
                        <a:t>1.24</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200" dirty="0">
                          <a:solidFill>
                            <a:schemeClr val="tx1"/>
                          </a:solidFill>
                        </a:rPr>
                        <a:t>1.30</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algn="l" indent="0" marL="0">
                        <a:buNone/>
                      </a:pPr>
                      <a:r>
                        <a:rPr lang="en-US" sz="1200" dirty="0">
                          <a:solidFill>
                            <a:schemeClr val="tx1"/>
                          </a:solidFill>
                        </a:rPr>
                        <a:t>Tile 1×2 / 1×1</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b="1" dirty="0">
                          <a:solidFill>
                            <a:schemeClr val="tx1"/>
                          </a:solidFill>
                        </a:rPr>
                        <a:t>1.55</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200" dirty="0">
                          <a:solidFill>
                            <a:schemeClr val="tx1"/>
                          </a:solidFill>
                        </a:rPr>
                        <a:t>1.58</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33" name="Text 30"/>
          <p:cNvSpPr txBox="1"/>
          <p:nvPr/>
        </p:nvSpPr>
        <p:spPr>
          <a:xfrm>
            <a:off x="5120640" y="2926080"/>
            <a:ext cx="3566160" cy="457200"/>
          </a:xfrm>
          <a:prstGeom prst="rect">
            <a:avLst/>
          </a:prstGeom>
          <a:noFill/>
          <a:ln/>
        </p:spPr>
        <p:txBody>
          <a:bodyPr wrap="square" lIns="0" tIns="0" rIns="0" bIns="0" rtlCol="0" anchor="t"/>
          <a:lstStyle/>
          <a:p>
            <a:pPr indent="0" marL="0">
              <a:buNone/>
            </a:pPr>
            <a:r>
              <a:rPr lang="en-US" sz="1000" dirty="0">
                <a:solidFill>
                  <a:schemeClr val="accent4"/>
                </a:solidFill>
              </a:rPr>
              <a:t>Measured: median brick size in the renders (px). Geometry: diagonal of the footprint, 1 stud = 8 mm.</a:t>
            </a:r>
            <a:endParaRPr lang="en-US" sz="1000" dirty="0"/>
          </a:p>
        </p:txBody>
      </p:sp>
      <p:sp>
        <p:nvSpPr>
          <p:cNvPr id="34" name="Conclusion card"/>
          <p:cNvSpPr/>
          <p:nvPr/>
        </p:nvSpPr>
        <p:spPr>
          <a:xfrm>
            <a:off x="5120640" y="3520440"/>
            <a:ext cx="3566160" cy="914400"/>
          </a:xfrm>
          <a:prstGeom prst="roundRect">
            <a:avLst>
              <a:gd name="adj" fmla="val 8000"/>
            </a:avLst>
          </a:prstGeom>
          <a:solidFill>
            <a:schemeClr val="bg2"/>
          </a:solidFill>
          <a:ln w="12700">
            <a:solidFill>
              <a:schemeClr val="bg2">
                <a:alpha val="0"/>
              </a:schemeClr>
            </a:solidFill>
            <a:prstDash val="solid"/>
          </a:ln>
        </p:spPr>
      </p:sp>
      <p:sp>
        <p:nvSpPr>
          <p:cNvPr id="35" name="Text 32"/>
          <p:cNvSpPr txBox="1"/>
          <p:nvPr/>
        </p:nvSpPr>
        <p:spPr>
          <a:xfrm>
            <a:off x="5303520" y="3611880"/>
            <a:ext cx="3200400" cy="731520"/>
          </a:xfrm>
          <a:prstGeom prst="rect">
            <a:avLst/>
          </a:prstGeom>
          <a:noFill/>
          <a:ln/>
        </p:spPr>
        <p:txBody>
          <a:bodyPr wrap="square" lIns="0" tIns="0" rIns="0" bIns="0" rtlCol="0" anchor="ctr"/>
          <a:lstStyle/>
          <a:p>
            <a:pPr indent="0" marL="0">
              <a:buNone/>
            </a:pPr>
            <a:r>
              <a:rPr lang="en-US" sz="1300" b="1" dirty="0">
                <a:solidFill>
                  <a:schemeClr val="tx1"/>
                </a:solidFill>
              </a:rPr>
              <a:t>The render camera distance is constant – size is real information, and we deleted it.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1"/>
                </a:solidFill>
              </a:rPr>
              <a:t>Size helps – but runs vary more than we thought</a:t>
            </a:r>
            <a:endParaRPr lang="en-US" sz="2600" dirty="0"/>
          </a:p>
        </p:txBody>
      </p:sp>
      <p:sp>
        <p:nvSpPr>
          <p:cNvPr id="3" name="Text 1"/>
          <p:cNvSpPr txBox="1"/>
          <p:nvPr/>
        </p:nvSpPr>
        <p:spPr>
          <a:xfrm>
            <a:off x="457200" y="1051560"/>
            <a:ext cx="4937760" cy="274320"/>
          </a:xfrm>
          <a:prstGeom prst="rect">
            <a:avLst/>
          </a:prstGeom>
          <a:noFill/>
          <a:ln/>
        </p:spPr>
        <p:txBody>
          <a:bodyPr wrap="square" lIns="0" tIns="0" rIns="0" bIns="0" rtlCol="0" anchor="t"/>
          <a:lstStyle/>
          <a:p>
            <a:pPr indent="0" marL="0">
              <a:buNone/>
            </a:pPr>
            <a:r>
              <a:rPr lang="en-US" sz="1200" dirty="0">
                <a:solidFill>
                  <a:schemeClr val="accent4"/>
                </a:solidFill>
              </a:rPr>
              <a:t>Length / size errors on the render test set (4,000 images)</a:t>
            </a:r>
            <a:endParaRPr lang="en-US" sz="1200" dirty="0"/>
          </a:p>
        </p:txBody>
      </p:sp>
      <p:graphicFrame>
        <p:nvGraphicFramePr>
          <p:cNvPr id="4" name="Length errors per run chart" descr=""/>
          <p:cNvGraphicFramePr/>
          <p:nvPr/>
        </p:nvGraphicFramePr>
        <p:xfrm>
          <a:off x="457200" y="1325880"/>
          <a:ext cx="4937760" cy="3246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760720" y="1097280"/>
            <a:ext cx="2926080" cy="502920"/>
          </a:xfrm>
          <a:prstGeom prst="rect">
            <a:avLst/>
          </a:prstGeom>
          <a:noFill/>
          <a:ln/>
        </p:spPr>
        <p:txBody>
          <a:bodyPr wrap="square" lIns="0" tIns="0" rIns="0" bIns="0" rtlCol="0" anchor="b"/>
          <a:lstStyle/>
          <a:p>
            <a:pPr indent="0" marL="0">
              <a:buNone/>
            </a:pPr>
            <a:r>
              <a:rPr lang="en-US" sz="2600" b="1" dirty="0">
                <a:solidFill>
                  <a:schemeClr val="accent1"/>
                </a:solidFill>
                <a:latin typeface="Arial" pitchFamily="34" charset="0"/>
                <a:ea typeface="Arial" pitchFamily="34" charset="-122"/>
                <a:cs typeface="Arial" pitchFamily="34" charset="-120"/>
              </a:rPr>
              <a:t>70 vs 81–115</a:t>
            </a:r>
            <a:endParaRPr lang="en-US" sz="2600" dirty="0"/>
          </a:p>
        </p:txBody>
      </p:sp>
      <p:sp>
        <p:nvSpPr>
          <p:cNvPr id="6" name="Text 3"/>
          <p:cNvSpPr txBox="1"/>
          <p:nvPr/>
        </p:nvSpPr>
        <p:spPr>
          <a:xfrm>
            <a:off x="5760720" y="1600200"/>
            <a:ext cx="2926080" cy="274320"/>
          </a:xfrm>
          <a:prstGeom prst="rect">
            <a:avLst/>
          </a:prstGeom>
          <a:noFill/>
          <a:ln/>
        </p:spPr>
        <p:txBody>
          <a:bodyPr wrap="square" lIns="0" tIns="0" rIns="0" bIns="0" rtlCol="0" anchor="t"/>
          <a:lstStyle/>
          <a:p>
            <a:pPr indent="0" marL="0">
              <a:buNone/>
            </a:pPr>
            <a:r>
              <a:rPr lang="en-US" sz="1200" dirty="0">
                <a:solidFill>
                  <a:schemeClr val="tx1"/>
                </a:solidFill>
              </a:rPr>
              <a:t>length errors: with size vs. three baseline runs</a:t>
            </a:r>
            <a:endParaRPr lang="en-US" sz="1200" dirty="0"/>
          </a:p>
        </p:txBody>
      </p:sp>
      <p:sp>
        <p:nvSpPr>
          <p:cNvPr id="7" name="Text 4"/>
          <p:cNvSpPr txBox="1"/>
          <p:nvPr/>
        </p:nvSpPr>
        <p:spPr>
          <a:xfrm>
            <a:off x="5760720" y="1965960"/>
            <a:ext cx="2926080" cy="502920"/>
          </a:xfrm>
          <a:prstGeom prst="rect">
            <a:avLst/>
          </a:prstGeom>
          <a:noFill/>
          <a:ln/>
        </p:spPr>
        <p:txBody>
          <a:bodyPr wrap="square" lIns="0" tIns="0" rIns="0" bIns="0" rtlCol="0" anchor="b"/>
          <a:lstStyle/>
          <a:p>
            <a:pPr indent="0" marL="0">
              <a:buNone/>
            </a:pPr>
            <a:r>
              <a:rPr lang="en-US" sz="2600" b="1" dirty="0">
                <a:solidFill>
                  <a:schemeClr val="accent4"/>
                </a:solidFill>
                <a:latin typeface="Arial" pitchFamily="34" charset="0"/>
                <a:ea typeface="Arial" pitchFamily="34" charset="-122"/>
                <a:cs typeface="Arial" pitchFamily="34" charset="-120"/>
              </a:rPr>
              <a:t>up to 34</a:t>
            </a:r>
            <a:endParaRPr lang="en-US" sz="2600" dirty="0"/>
          </a:p>
        </p:txBody>
      </p:sp>
      <p:sp>
        <p:nvSpPr>
          <p:cNvPr id="8" name="Text 5"/>
          <p:cNvSpPr txBox="1"/>
          <p:nvPr/>
        </p:nvSpPr>
        <p:spPr>
          <a:xfrm>
            <a:off x="5760720" y="2468880"/>
            <a:ext cx="2926080" cy="274320"/>
          </a:xfrm>
          <a:prstGeom prst="rect">
            <a:avLst/>
          </a:prstGeom>
          <a:noFill/>
          <a:ln/>
        </p:spPr>
        <p:txBody>
          <a:bodyPr wrap="square" lIns="0" tIns="0" rIns="0" bIns="0" rtlCol="0" anchor="t"/>
          <a:lstStyle/>
          <a:p>
            <a:pPr indent="0" marL="0">
              <a:buNone/>
            </a:pPr>
            <a:r>
              <a:rPr lang="en-US" sz="1200" dirty="0">
                <a:solidFill>
                  <a:schemeClr val="tx1"/>
                </a:solidFill>
              </a:rPr>
              <a:t>errors between runs of the SAME config</a:t>
            </a:r>
            <a:endParaRPr lang="en-US" sz="1200" dirty="0"/>
          </a:p>
        </p:txBody>
      </p:sp>
      <p:sp>
        <p:nvSpPr>
          <p:cNvPr id="9" name="Text 6"/>
          <p:cNvSpPr txBox="1"/>
          <p:nvPr/>
        </p:nvSpPr>
        <p:spPr>
          <a:xfrm>
            <a:off x="5760720" y="2926080"/>
            <a:ext cx="2926080" cy="274320"/>
          </a:xfrm>
          <a:prstGeom prst="rect">
            <a:avLst/>
          </a:prstGeom>
          <a:noFill/>
          <a:ln/>
        </p:spPr>
        <p:txBody>
          <a:bodyPr wrap="square" lIns="0" tIns="0" rIns="0" bIns="0" rtlCol="0" anchor="t"/>
          <a:lstStyle/>
          <a:p>
            <a:pPr indent="0" marL="0">
              <a:buNone/>
            </a:pPr>
            <a:r>
              <a:rPr lang="en-US" sz="1200" b="1" dirty="0">
                <a:solidFill>
                  <a:schemeClr val="tx1"/>
                </a:solidFill>
              </a:rPr>
              <a:t>Seeds 0–3 per config (pending)</a:t>
            </a:r>
            <a:endParaRPr lang="en-US" sz="1200" dirty="0"/>
          </a:p>
        </p:txBody>
      </p:sp>
      <p:graphicFrame>
        <p:nvGraphicFramePr>
          <p:cNvPr id="7" name="Seed results table"/>
          <p:cNvGraphicFramePr>
            <a:graphicFrameLocks noGrp="1"/>
          </p:cNvGraphicFramePr>
          <p:nvPr>
            <p:extLst>
              <p:ext uri="{D42A27DB-BD31-4B8C-83A1-F6EECF244321}">
                <p14:modId xmlns:p14="http://schemas.microsoft.com/office/powerpoint/2010/main" val="1579011935"/>
              </p:ext>
            </p:extLst>
          </p:nvPr>
        </p:nvGraphicFramePr>
        <p:xfrm>
          <a:off x="5760720" y="3246120"/>
          <a:ext cx="2926080" cy="914400"/>
        </p:xfrm>
        <a:graphic>
          <a:graphicData uri="http://schemas.openxmlformats.org/drawingml/2006/table">
            <a:tbl>
              <a:tblPr/>
              <a:tblGrid>
                <a:gridCol w="1188720"/>
                <a:gridCol w="731520"/>
                <a:gridCol w="1005840"/>
              </a:tblGrid>
              <a:tr h="292608">
                <a:tc>
                  <a:txBody>
                    <a:bodyPr/>
                    <a:lstStyle/>
                    <a:p>
                      <a:pPr indent="0" marL="0">
                        <a:buNone/>
                      </a:pPr>
                      <a:r>
                        <a:rPr lang="en-US" sz="1100" b="1" dirty="0">
                          <a:solidFill>
                            <a:schemeClr val="bg1"/>
                          </a:solidFill>
                        </a:rPr>
                        <a:t>Config</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r" indent="0" marL="0">
                        <a:buNone/>
                      </a:pPr>
                      <a:r>
                        <a:rPr lang="en-US" sz="1100" b="1" dirty="0">
                          <a:solidFill>
                            <a:schemeClr val="bg1"/>
                          </a:solidFill>
                        </a:rPr>
                        <a:t>Top-1</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r" indent="0" marL="0">
                        <a:buNone/>
                      </a:pPr>
                      <a:r>
                        <a:rPr lang="en-US" sz="1100" b="1" dirty="0">
                          <a:solidFill>
                            <a:schemeClr val="bg1"/>
                          </a:solidFill>
                        </a:rPr>
                        <a:t>Length err.</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chemeClr val="tx2"/>
                    </a:solidFill>
                  </a:tcPr>
                </a:tc>
              </a:tr>
              <a:tr h="292608">
                <a:tc>
                  <a:txBody>
                    <a:bodyPr/>
                    <a:lstStyle/>
                    <a:p>
                      <a:pPr indent="0" marL="0">
                        <a:buNone/>
                      </a:pPr>
                      <a:r>
                        <a:rPr lang="en-US" sz="1100" dirty="0">
                          <a:solidFill>
                            <a:schemeClr val="tx1"/>
                          </a:solidFill>
                        </a:rPr>
                        <a:t>Baseline</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100" dirty="0">
                          <a:solidFill>
                            <a:schemeClr val="tx1"/>
                          </a:solidFill>
                        </a:rPr>
                        <a:t>tbd</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100" dirty="0">
                          <a:solidFill>
                            <a:schemeClr val="tx1"/>
                          </a:solidFill>
                        </a:rPr>
                        <a:t>tbd</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292608">
                <a:tc>
                  <a:txBody>
                    <a:bodyPr/>
                    <a:lstStyle/>
                    <a:p>
                      <a:pPr indent="0" marL="0">
                        <a:buNone/>
                      </a:pPr>
                      <a:r>
                        <a:rPr lang="en-US" sz="1100" dirty="0">
                          <a:solidFill>
                            <a:schemeClr val="tx1"/>
                          </a:solidFill>
                        </a:rPr>
                        <a:t>With size</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100" dirty="0">
                          <a:solidFill>
                            <a:schemeClr val="tx1"/>
                          </a:solidFill>
                        </a:rPr>
                        <a:t>tbd</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100" dirty="0">
                          <a:solidFill>
                            <a:schemeClr val="tx1"/>
                          </a:solidFill>
                        </a:rPr>
                        <a:t>tbd</a:t>
                      </a:r>
                      <a:endParaRPr lang="en-US" sz="1100" dirty="0"/>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1" name="Text 7"/>
          <p:cNvSpPr txBox="1"/>
          <p:nvPr/>
        </p:nvSpPr>
        <p:spPr>
          <a:xfrm>
            <a:off x="5760720" y="4206240"/>
            <a:ext cx="2926080" cy="320040"/>
          </a:xfrm>
          <a:prstGeom prst="rect">
            <a:avLst/>
          </a:prstGeom>
          <a:noFill/>
          <a:ln/>
        </p:spPr>
        <p:txBody>
          <a:bodyPr wrap="square" lIns="0" tIns="0" rIns="0" bIns="0" rtlCol="0" anchor="t"/>
          <a:lstStyle/>
          <a:p>
            <a:pPr indent="0" marL="0">
              <a:buNone/>
            </a:pPr>
            <a:r>
              <a:rPr lang="en-US" sz="1000" i="1" dirty="0">
                <a:solidFill>
                  <a:schemeClr val="accent4"/>
                </a:solidFill>
              </a:rPr>
              <a:t>Mean ± range, to be filled in after the seed runs.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bg1"/>
                </a:solidFill>
              </a:rPr>
              <a:t>Open questions and next steps</a:t>
            </a:r>
            <a:endParaRPr lang="en-US" sz="2600" dirty="0"/>
          </a:p>
        </p:txBody>
      </p:sp>
      <p:sp>
        <p:nvSpPr>
          <p:cNvPr id="3" name="Next step card 1"/>
          <p:cNvSpPr/>
          <p:nvPr/>
        </p:nvSpPr>
        <p:spPr>
          <a:xfrm>
            <a:off x="457200" y="1143000"/>
            <a:ext cx="2560320" cy="1600200"/>
          </a:xfrm>
          <a:prstGeom prst="roundRect">
            <a:avLst>
              <a:gd name="adj" fmla="val 4571"/>
            </a:avLst>
          </a:prstGeom>
          <a:solidFill>
            <a:schemeClr val="bg1">
              <a:alpha val="10000"/>
            </a:schemeClr>
          </a:solidFill>
          <a:ln w="12700">
            <a:solidFill>
              <a:schemeClr val="bg1">
                <a:alpha val="0"/>
              </a:schemeClr>
            </a:solidFill>
            <a:prstDash val="solid"/>
          </a:ln>
        </p:spPr>
      </p:sp>
      <p:sp>
        <p:nvSpPr>
          <p:cNvPr id="4" name="Next step icon 1"/>
          <p:cNvSpPr/>
          <p:nvPr/>
        </p:nvSpPr>
        <p:spPr>
          <a:xfrm>
            <a:off x="640080" y="1344168"/>
            <a:ext cx="457200" cy="182880"/>
          </a:xfrm>
          <a:prstGeom prst="rect">
            <a:avLst/>
          </a:prstGeom>
          <a:solidFill>
            <a:schemeClr val="accent1"/>
          </a:solidFill>
          <a:ln w="12700">
            <a:solidFill>
              <a:schemeClr val="accent1"/>
            </a:solidFill>
            <a:prstDash val="solid"/>
          </a:ln>
        </p:spPr>
      </p:sp>
      <p:sp>
        <p:nvSpPr>
          <p:cNvPr id="5" name="Next step icon 1 stud 1"/>
          <p:cNvSpPr/>
          <p:nvPr/>
        </p:nvSpPr>
        <p:spPr>
          <a:xfrm>
            <a:off x="697687" y="1378915"/>
            <a:ext cx="113386" cy="113386"/>
          </a:xfrm>
          <a:prstGeom prst="ellipse">
            <a:avLst/>
          </a:prstGeom>
          <a:solidFill>
            <a:schemeClr val="bg1">
              <a:alpha val="28000"/>
            </a:schemeClr>
          </a:solidFill>
          <a:ln w="12700">
            <a:solidFill>
              <a:schemeClr val="bg1">
                <a:alpha val="0"/>
              </a:schemeClr>
            </a:solidFill>
            <a:prstDash val="solid"/>
          </a:ln>
        </p:spPr>
      </p:sp>
      <p:sp>
        <p:nvSpPr>
          <p:cNvPr id="6" name="Next step icon 1 stud 2"/>
          <p:cNvSpPr/>
          <p:nvPr/>
        </p:nvSpPr>
        <p:spPr>
          <a:xfrm>
            <a:off x="926287" y="1378915"/>
            <a:ext cx="113386" cy="113386"/>
          </a:xfrm>
          <a:prstGeom prst="ellipse">
            <a:avLst/>
          </a:prstGeom>
          <a:solidFill>
            <a:schemeClr val="bg1">
              <a:alpha val="28000"/>
            </a:schemeClr>
          </a:solidFill>
          <a:ln w="12700">
            <a:solidFill>
              <a:schemeClr val="bg1">
                <a:alpha val="0"/>
              </a:schemeClr>
            </a:solidFill>
            <a:prstDash val="solid"/>
          </a:ln>
        </p:spPr>
      </p:sp>
      <p:sp>
        <p:nvSpPr>
          <p:cNvPr id="7" name="Text 5"/>
          <p:cNvSpPr txBox="1"/>
          <p:nvPr/>
        </p:nvSpPr>
        <p:spPr>
          <a:xfrm>
            <a:off x="1207008" y="1271016"/>
            <a:ext cx="1645920" cy="329184"/>
          </a:xfrm>
          <a:prstGeom prst="rect">
            <a:avLst/>
          </a:prstGeom>
          <a:noFill/>
          <a:ln/>
        </p:spPr>
        <p:txBody>
          <a:bodyPr wrap="square" lIns="0" tIns="0" rIns="0" bIns="0" rtlCol="0" anchor="ctr"/>
          <a:lstStyle/>
          <a:p>
            <a:pPr indent="0" marL="0">
              <a:buNone/>
            </a:pPr>
            <a:r>
              <a:rPr lang="en-US" sz="1500" b="1" dirty="0">
                <a:solidFill>
                  <a:schemeClr val="accent2"/>
                </a:solidFill>
              </a:rPr>
              <a:t>Real photos</a:t>
            </a:r>
            <a:endParaRPr lang="en-US" sz="1500" dirty="0"/>
          </a:p>
        </p:txBody>
      </p:sp>
      <p:sp>
        <p:nvSpPr>
          <p:cNvPr id="8" name="Text 6"/>
          <p:cNvSpPr txBox="1"/>
          <p:nvPr/>
        </p:nvSpPr>
        <p:spPr>
          <a:xfrm>
            <a:off x="640080" y="1709928"/>
            <a:ext cx="2194560" cy="914400"/>
          </a:xfrm>
          <a:prstGeom prst="rect">
            <a:avLst/>
          </a:prstGeom>
          <a:noFill/>
          <a:ln/>
        </p:spPr>
        <p:txBody>
          <a:bodyPr wrap="square" lIns="0" tIns="0" rIns="0" bIns="0" rtlCol="0" anchor="t"/>
          <a:lstStyle/>
          <a:p>
            <a:pPr indent="0" marL="0">
              <a:buNone/>
            </a:pPr>
            <a:r>
              <a:rPr lang="en-US" sz="1300" dirty="0">
                <a:solidFill>
                  <a:schemeClr val="bg1"/>
                </a:solidFill>
              </a:rPr>
              <a:t>First test set of our own photos – the number that really counts.</a:t>
            </a:r>
            <a:endParaRPr lang="en-US" sz="1300" dirty="0"/>
          </a:p>
        </p:txBody>
      </p:sp>
      <p:sp>
        <p:nvSpPr>
          <p:cNvPr id="9" name="Next step card 2"/>
          <p:cNvSpPr/>
          <p:nvPr/>
        </p:nvSpPr>
        <p:spPr>
          <a:xfrm>
            <a:off x="3291840" y="1143000"/>
            <a:ext cx="2560320" cy="1600200"/>
          </a:xfrm>
          <a:prstGeom prst="roundRect">
            <a:avLst>
              <a:gd name="adj" fmla="val 4571"/>
            </a:avLst>
          </a:prstGeom>
          <a:solidFill>
            <a:schemeClr val="bg1">
              <a:alpha val="10000"/>
            </a:schemeClr>
          </a:solidFill>
          <a:ln w="12700">
            <a:solidFill>
              <a:schemeClr val="bg1">
                <a:alpha val="0"/>
              </a:schemeClr>
            </a:solidFill>
            <a:prstDash val="solid"/>
          </a:ln>
        </p:spPr>
      </p:sp>
      <p:sp>
        <p:nvSpPr>
          <p:cNvPr id="10" name="Next step icon 2"/>
          <p:cNvSpPr/>
          <p:nvPr/>
        </p:nvSpPr>
        <p:spPr>
          <a:xfrm>
            <a:off x="3474720" y="1344168"/>
            <a:ext cx="457200" cy="182880"/>
          </a:xfrm>
          <a:prstGeom prst="rect">
            <a:avLst/>
          </a:prstGeom>
          <a:solidFill>
            <a:schemeClr val="accent2"/>
          </a:solidFill>
          <a:ln w="12700">
            <a:solidFill>
              <a:schemeClr val="accent2"/>
            </a:solidFill>
            <a:prstDash val="solid"/>
          </a:ln>
        </p:spPr>
      </p:sp>
      <p:sp>
        <p:nvSpPr>
          <p:cNvPr id="11" name="Next step icon 2 stud 1"/>
          <p:cNvSpPr/>
          <p:nvPr/>
        </p:nvSpPr>
        <p:spPr>
          <a:xfrm>
            <a:off x="3532327" y="1378915"/>
            <a:ext cx="113386" cy="113386"/>
          </a:xfrm>
          <a:prstGeom prst="ellipse">
            <a:avLst/>
          </a:prstGeom>
          <a:solidFill>
            <a:schemeClr val="bg1">
              <a:alpha val="28000"/>
            </a:schemeClr>
          </a:solidFill>
          <a:ln w="12700">
            <a:solidFill>
              <a:schemeClr val="bg1">
                <a:alpha val="0"/>
              </a:schemeClr>
            </a:solidFill>
            <a:prstDash val="solid"/>
          </a:ln>
        </p:spPr>
      </p:sp>
      <p:sp>
        <p:nvSpPr>
          <p:cNvPr id="12" name="Next step icon 2 stud 2"/>
          <p:cNvSpPr/>
          <p:nvPr/>
        </p:nvSpPr>
        <p:spPr>
          <a:xfrm>
            <a:off x="3760927" y="1378915"/>
            <a:ext cx="113386" cy="113386"/>
          </a:xfrm>
          <a:prstGeom prst="ellipse">
            <a:avLst/>
          </a:prstGeom>
          <a:solidFill>
            <a:schemeClr val="bg1">
              <a:alpha val="28000"/>
            </a:schemeClr>
          </a:solidFill>
          <a:ln w="12700">
            <a:solidFill>
              <a:schemeClr val="bg1">
                <a:alpha val="0"/>
              </a:schemeClr>
            </a:solidFill>
            <a:prstDash val="solid"/>
          </a:ln>
        </p:spPr>
      </p:sp>
      <p:sp>
        <p:nvSpPr>
          <p:cNvPr id="13" name="Text 11"/>
          <p:cNvSpPr txBox="1"/>
          <p:nvPr/>
        </p:nvSpPr>
        <p:spPr>
          <a:xfrm>
            <a:off x="4041648" y="1271016"/>
            <a:ext cx="1645920" cy="329184"/>
          </a:xfrm>
          <a:prstGeom prst="rect">
            <a:avLst/>
          </a:prstGeom>
          <a:noFill/>
          <a:ln/>
        </p:spPr>
        <p:txBody>
          <a:bodyPr wrap="square" lIns="0" tIns="0" rIns="0" bIns="0" rtlCol="0" anchor="ctr"/>
          <a:lstStyle/>
          <a:p>
            <a:pPr indent="0" marL="0">
              <a:buNone/>
            </a:pPr>
            <a:r>
              <a:rPr lang="en-US" sz="1500" b="1" dirty="0">
                <a:solidFill>
                  <a:schemeClr val="accent2"/>
                </a:solidFill>
              </a:rPr>
              <a:t>Size on real photos</a:t>
            </a:r>
            <a:endParaRPr lang="en-US" sz="1500" dirty="0"/>
          </a:p>
        </p:txBody>
      </p:sp>
      <p:sp>
        <p:nvSpPr>
          <p:cNvPr id="14" name="Text 12"/>
          <p:cNvSpPr txBox="1"/>
          <p:nvPr/>
        </p:nvSpPr>
        <p:spPr>
          <a:xfrm>
            <a:off x="3474720" y="1709928"/>
            <a:ext cx="2194560" cy="914400"/>
          </a:xfrm>
          <a:prstGeom prst="rect">
            <a:avLst/>
          </a:prstGeom>
          <a:noFill/>
          <a:ln/>
        </p:spPr>
        <p:txBody>
          <a:bodyPr wrap="square" lIns="0" tIns="0" rIns="0" bIns="0" rtlCol="0" anchor="t"/>
          <a:lstStyle/>
          <a:p>
            <a:pPr indent="0" marL="0">
              <a:buNone/>
            </a:pPr>
            <a:r>
              <a:rPr lang="en-US" sz="1300" dirty="0">
                <a:solidFill>
                  <a:schemeClr val="bg1"/>
                </a:solidFill>
              </a:rPr>
              <a:t>Needs calibration: pixels per mm from a fixed camera and the grey card.</a:t>
            </a:r>
            <a:endParaRPr lang="en-US" sz="1300" dirty="0"/>
          </a:p>
        </p:txBody>
      </p:sp>
      <p:sp>
        <p:nvSpPr>
          <p:cNvPr id="15" name="Next step card 3"/>
          <p:cNvSpPr/>
          <p:nvPr/>
        </p:nvSpPr>
        <p:spPr>
          <a:xfrm>
            <a:off x="6126480" y="1143000"/>
            <a:ext cx="2560320" cy="1600200"/>
          </a:xfrm>
          <a:prstGeom prst="roundRect">
            <a:avLst>
              <a:gd name="adj" fmla="val 4571"/>
            </a:avLst>
          </a:prstGeom>
          <a:solidFill>
            <a:schemeClr val="bg1">
              <a:alpha val="10000"/>
            </a:schemeClr>
          </a:solidFill>
          <a:ln w="12700">
            <a:solidFill>
              <a:schemeClr val="bg1">
                <a:alpha val="0"/>
              </a:schemeClr>
            </a:solidFill>
            <a:prstDash val="solid"/>
          </a:ln>
        </p:spPr>
      </p:sp>
      <p:sp>
        <p:nvSpPr>
          <p:cNvPr id="16" name="Next step icon 3"/>
          <p:cNvSpPr/>
          <p:nvPr/>
        </p:nvSpPr>
        <p:spPr>
          <a:xfrm>
            <a:off x="6309360" y="1344168"/>
            <a:ext cx="457200" cy="182880"/>
          </a:xfrm>
          <a:prstGeom prst="rect">
            <a:avLst/>
          </a:prstGeom>
          <a:solidFill>
            <a:schemeClr val="accent2"/>
          </a:solidFill>
          <a:ln w="12700">
            <a:solidFill>
              <a:schemeClr val="accent2"/>
            </a:solidFill>
            <a:prstDash val="solid"/>
          </a:ln>
        </p:spPr>
      </p:sp>
      <p:sp>
        <p:nvSpPr>
          <p:cNvPr id="17" name="Next step icon 3 stud 1"/>
          <p:cNvSpPr/>
          <p:nvPr/>
        </p:nvSpPr>
        <p:spPr>
          <a:xfrm>
            <a:off x="6366967" y="1378915"/>
            <a:ext cx="113386" cy="113386"/>
          </a:xfrm>
          <a:prstGeom prst="ellipse">
            <a:avLst/>
          </a:prstGeom>
          <a:solidFill>
            <a:schemeClr val="bg1">
              <a:alpha val="28000"/>
            </a:schemeClr>
          </a:solidFill>
          <a:ln w="12700">
            <a:solidFill>
              <a:schemeClr val="bg1">
                <a:alpha val="0"/>
              </a:schemeClr>
            </a:solidFill>
            <a:prstDash val="solid"/>
          </a:ln>
        </p:spPr>
      </p:sp>
      <p:sp>
        <p:nvSpPr>
          <p:cNvPr id="18" name="Next step icon 3 stud 2"/>
          <p:cNvSpPr/>
          <p:nvPr/>
        </p:nvSpPr>
        <p:spPr>
          <a:xfrm>
            <a:off x="6595567" y="1378915"/>
            <a:ext cx="113386" cy="113386"/>
          </a:xfrm>
          <a:prstGeom prst="ellipse">
            <a:avLst/>
          </a:prstGeom>
          <a:solidFill>
            <a:schemeClr val="bg1">
              <a:alpha val="28000"/>
            </a:schemeClr>
          </a:solidFill>
          <a:ln w="12700">
            <a:solidFill>
              <a:schemeClr val="bg1">
                <a:alpha val="0"/>
              </a:schemeClr>
            </a:solidFill>
            <a:prstDash val="solid"/>
          </a:ln>
        </p:spPr>
      </p:sp>
      <p:sp>
        <p:nvSpPr>
          <p:cNvPr id="19" name="Text 17"/>
          <p:cNvSpPr txBox="1"/>
          <p:nvPr/>
        </p:nvSpPr>
        <p:spPr>
          <a:xfrm>
            <a:off x="6876288" y="1271016"/>
            <a:ext cx="1645920" cy="329184"/>
          </a:xfrm>
          <a:prstGeom prst="rect">
            <a:avLst/>
          </a:prstGeom>
          <a:noFill/>
          <a:ln/>
        </p:spPr>
        <p:txBody>
          <a:bodyPr wrap="square" lIns="0" tIns="0" rIns="0" bIns="0" rtlCol="0" anchor="ctr"/>
          <a:lstStyle/>
          <a:p>
            <a:pPr indent="0" marL="0">
              <a:buNone/>
            </a:pPr>
            <a:r>
              <a:rPr lang="en-US" sz="1500" b="1" dirty="0">
                <a:solidFill>
                  <a:schemeClr val="accent2"/>
                </a:solidFill>
              </a:rPr>
              <a:t>Poses</a:t>
            </a:r>
            <a:endParaRPr lang="en-US" sz="1500" dirty="0"/>
          </a:p>
        </p:txBody>
      </p:sp>
      <p:sp>
        <p:nvSpPr>
          <p:cNvPr id="20" name="Text 18"/>
          <p:cNvSpPr txBox="1"/>
          <p:nvPr/>
        </p:nvSpPr>
        <p:spPr>
          <a:xfrm>
            <a:off x="6309360" y="1709928"/>
            <a:ext cx="2194560" cy="914400"/>
          </a:xfrm>
          <a:prstGeom prst="rect">
            <a:avLst/>
          </a:prstGeom>
          <a:noFill/>
          <a:ln/>
        </p:spPr>
        <p:txBody>
          <a:bodyPr wrap="square" lIns="0" tIns="0" rIns="0" bIns="0" rtlCol="0" anchor="t"/>
          <a:lstStyle/>
          <a:p>
            <a:pPr indent="0" marL="0">
              <a:buNone/>
            </a:pPr>
            <a:r>
              <a:rPr lang="en-US" sz="1300" dirty="0">
                <a:solidFill>
                  <a:schemeClr val="bg1"/>
                </a:solidFill>
              </a:rPr>
              <a:t>Renders show random 3D poses, real bricks lie flat – size may behave differently.</a:t>
            </a:r>
            <a:endParaRPr lang="en-US" sz="1300" dirty="0"/>
          </a:p>
        </p:txBody>
      </p:sp>
      <p:sp>
        <p:nvSpPr>
          <p:cNvPr id="21" name="Next step card 4"/>
          <p:cNvSpPr/>
          <p:nvPr/>
        </p:nvSpPr>
        <p:spPr>
          <a:xfrm>
            <a:off x="457200" y="2926080"/>
            <a:ext cx="2560320" cy="1600200"/>
          </a:xfrm>
          <a:prstGeom prst="roundRect">
            <a:avLst>
              <a:gd name="adj" fmla="val 4571"/>
            </a:avLst>
          </a:prstGeom>
          <a:solidFill>
            <a:schemeClr val="bg1">
              <a:alpha val="10000"/>
            </a:schemeClr>
          </a:solidFill>
          <a:ln w="12700">
            <a:solidFill>
              <a:schemeClr val="bg1">
                <a:alpha val="0"/>
              </a:schemeClr>
            </a:solidFill>
            <a:prstDash val="solid"/>
          </a:ln>
        </p:spPr>
      </p:sp>
      <p:sp>
        <p:nvSpPr>
          <p:cNvPr id="22" name="Next step icon 4"/>
          <p:cNvSpPr/>
          <p:nvPr/>
        </p:nvSpPr>
        <p:spPr>
          <a:xfrm>
            <a:off x="640080" y="3127248"/>
            <a:ext cx="457200" cy="182880"/>
          </a:xfrm>
          <a:prstGeom prst="rect">
            <a:avLst/>
          </a:prstGeom>
          <a:solidFill>
            <a:schemeClr val="accent2"/>
          </a:solidFill>
          <a:ln w="12700">
            <a:solidFill>
              <a:schemeClr val="accent2"/>
            </a:solidFill>
            <a:prstDash val="solid"/>
          </a:ln>
        </p:spPr>
      </p:sp>
      <p:sp>
        <p:nvSpPr>
          <p:cNvPr id="23" name="Next step icon 4 stud 1"/>
          <p:cNvSpPr/>
          <p:nvPr/>
        </p:nvSpPr>
        <p:spPr>
          <a:xfrm>
            <a:off x="697687" y="3161995"/>
            <a:ext cx="113386" cy="113386"/>
          </a:xfrm>
          <a:prstGeom prst="ellipse">
            <a:avLst/>
          </a:prstGeom>
          <a:solidFill>
            <a:schemeClr val="bg1">
              <a:alpha val="28000"/>
            </a:schemeClr>
          </a:solidFill>
          <a:ln w="12700">
            <a:solidFill>
              <a:schemeClr val="bg1">
                <a:alpha val="0"/>
              </a:schemeClr>
            </a:solidFill>
            <a:prstDash val="solid"/>
          </a:ln>
        </p:spPr>
      </p:sp>
      <p:sp>
        <p:nvSpPr>
          <p:cNvPr id="24" name="Next step icon 4 stud 2"/>
          <p:cNvSpPr/>
          <p:nvPr/>
        </p:nvSpPr>
        <p:spPr>
          <a:xfrm>
            <a:off x="926287" y="3161995"/>
            <a:ext cx="113386" cy="113386"/>
          </a:xfrm>
          <a:prstGeom prst="ellipse">
            <a:avLst/>
          </a:prstGeom>
          <a:solidFill>
            <a:schemeClr val="bg1">
              <a:alpha val="28000"/>
            </a:schemeClr>
          </a:solidFill>
          <a:ln w="12700">
            <a:solidFill>
              <a:schemeClr val="bg1">
                <a:alpha val="0"/>
              </a:schemeClr>
            </a:solidFill>
            <a:prstDash val="solid"/>
          </a:ln>
        </p:spPr>
      </p:sp>
      <p:sp>
        <p:nvSpPr>
          <p:cNvPr id="25" name="Text 23"/>
          <p:cNvSpPr txBox="1"/>
          <p:nvPr/>
        </p:nvSpPr>
        <p:spPr>
          <a:xfrm>
            <a:off x="1207008" y="3054096"/>
            <a:ext cx="1645920" cy="329184"/>
          </a:xfrm>
          <a:prstGeom prst="rect">
            <a:avLst/>
          </a:prstGeom>
          <a:noFill/>
          <a:ln/>
        </p:spPr>
        <p:txBody>
          <a:bodyPr wrap="square" lIns="0" tIns="0" rIns="0" bIns="0" rtlCol="0" anchor="ctr"/>
          <a:lstStyle/>
          <a:p>
            <a:pPr indent="0" marL="0">
              <a:buNone/>
            </a:pPr>
            <a:r>
              <a:rPr lang="en-US" sz="1500" b="1" dirty="0">
                <a:solidFill>
                  <a:schemeClr val="accent2"/>
                </a:solidFill>
              </a:rPr>
              <a:t>Robustness</a:t>
            </a:r>
            <a:endParaRPr lang="en-US" sz="1500" dirty="0"/>
          </a:p>
        </p:txBody>
      </p:sp>
      <p:sp>
        <p:nvSpPr>
          <p:cNvPr id="26" name="Text 24"/>
          <p:cNvSpPr txBox="1"/>
          <p:nvPr/>
        </p:nvSpPr>
        <p:spPr>
          <a:xfrm>
            <a:off x="640080" y="3493008"/>
            <a:ext cx="2194560" cy="914400"/>
          </a:xfrm>
          <a:prstGeom prst="rect">
            <a:avLst/>
          </a:prstGeom>
          <a:noFill/>
          <a:ln/>
        </p:spPr>
        <p:txBody>
          <a:bodyPr wrap="square" lIns="0" tIns="0" rIns="0" bIns="0" rtlCol="0" anchor="t"/>
          <a:lstStyle/>
          <a:p>
            <a:pPr indent="0" marL="0">
              <a:buNone/>
            </a:pPr>
            <a:r>
              <a:rPr lang="en-US" sz="1300" dirty="0">
                <a:solidFill>
                  <a:schemeClr val="bg1"/>
                </a:solidFill>
              </a:rPr>
              <a:t>Runs of the same config differ by up to 34 errors: always several seeds.</a:t>
            </a:r>
            <a:endParaRPr lang="en-US" sz="1300" dirty="0"/>
          </a:p>
        </p:txBody>
      </p:sp>
      <p:sp>
        <p:nvSpPr>
          <p:cNvPr id="27" name="Next step card 5"/>
          <p:cNvSpPr/>
          <p:nvPr/>
        </p:nvSpPr>
        <p:spPr>
          <a:xfrm>
            <a:off x="3291840" y="2926080"/>
            <a:ext cx="2560320" cy="1600200"/>
          </a:xfrm>
          <a:prstGeom prst="roundRect">
            <a:avLst>
              <a:gd name="adj" fmla="val 4571"/>
            </a:avLst>
          </a:prstGeom>
          <a:solidFill>
            <a:schemeClr val="bg1">
              <a:alpha val="10000"/>
            </a:schemeClr>
          </a:solidFill>
          <a:ln w="12700">
            <a:solidFill>
              <a:schemeClr val="bg1">
                <a:alpha val="0"/>
              </a:schemeClr>
            </a:solidFill>
            <a:prstDash val="solid"/>
          </a:ln>
        </p:spPr>
      </p:sp>
      <p:sp>
        <p:nvSpPr>
          <p:cNvPr id="28" name="Next step icon 5"/>
          <p:cNvSpPr/>
          <p:nvPr/>
        </p:nvSpPr>
        <p:spPr>
          <a:xfrm>
            <a:off x="3474720" y="3127248"/>
            <a:ext cx="457200" cy="182880"/>
          </a:xfrm>
          <a:prstGeom prst="rect">
            <a:avLst/>
          </a:prstGeom>
          <a:solidFill>
            <a:schemeClr val="accent2"/>
          </a:solidFill>
          <a:ln w="12700">
            <a:solidFill>
              <a:schemeClr val="accent2"/>
            </a:solidFill>
            <a:prstDash val="solid"/>
          </a:ln>
        </p:spPr>
      </p:sp>
      <p:sp>
        <p:nvSpPr>
          <p:cNvPr id="29" name="Next step icon 5 stud 1"/>
          <p:cNvSpPr/>
          <p:nvPr/>
        </p:nvSpPr>
        <p:spPr>
          <a:xfrm>
            <a:off x="3532327" y="3161995"/>
            <a:ext cx="113386" cy="113386"/>
          </a:xfrm>
          <a:prstGeom prst="ellipse">
            <a:avLst/>
          </a:prstGeom>
          <a:solidFill>
            <a:schemeClr val="bg1">
              <a:alpha val="28000"/>
            </a:schemeClr>
          </a:solidFill>
          <a:ln w="12700">
            <a:solidFill>
              <a:schemeClr val="bg1">
                <a:alpha val="0"/>
              </a:schemeClr>
            </a:solidFill>
            <a:prstDash val="solid"/>
          </a:ln>
        </p:spPr>
      </p:sp>
      <p:sp>
        <p:nvSpPr>
          <p:cNvPr id="30" name="Next step icon 5 stud 2"/>
          <p:cNvSpPr/>
          <p:nvPr/>
        </p:nvSpPr>
        <p:spPr>
          <a:xfrm>
            <a:off x="3760927" y="3161995"/>
            <a:ext cx="113386" cy="113386"/>
          </a:xfrm>
          <a:prstGeom prst="ellipse">
            <a:avLst/>
          </a:prstGeom>
          <a:solidFill>
            <a:schemeClr val="bg1">
              <a:alpha val="28000"/>
            </a:schemeClr>
          </a:solidFill>
          <a:ln w="12700">
            <a:solidFill>
              <a:schemeClr val="bg1">
                <a:alpha val="0"/>
              </a:schemeClr>
            </a:solidFill>
            <a:prstDash val="solid"/>
          </a:ln>
        </p:spPr>
      </p:sp>
      <p:sp>
        <p:nvSpPr>
          <p:cNvPr id="31" name="Text 29"/>
          <p:cNvSpPr txBox="1"/>
          <p:nvPr/>
        </p:nvSpPr>
        <p:spPr>
          <a:xfrm>
            <a:off x="4041648" y="3054096"/>
            <a:ext cx="1645920" cy="329184"/>
          </a:xfrm>
          <a:prstGeom prst="rect">
            <a:avLst/>
          </a:prstGeom>
          <a:noFill/>
          <a:ln/>
        </p:spPr>
        <p:txBody>
          <a:bodyPr wrap="square" lIns="0" tIns="0" rIns="0" bIns="0" rtlCol="0" anchor="ctr"/>
          <a:lstStyle/>
          <a:p>
            <a:pPr indent="0" marL="0">
              <a:buNone/>
            </a:pPr>
            <a:r>
              <a:rPr lang="en-US" sz="1500" b="1" dirty="0">
                <a:solidFill>
                  <a:schemeClr val="accent2"/>
                </a:solidFill>
              </a:rPr>
              <a:t>Resolution</a:t>
            </a:r>
            <a:endParaRPr lang="en-US" sz="1500" dirty="0"/>
          </a:p>
        </p:txBody>
      </p:sp>
      <p:sp>
        <p:nvSpPr>
          <p:cNvPr id="32" name="Text 30"/>
          <p:cNvSpPr txBox="1"/>
          <p:nvPr/>
        </p:nvSpPr>
        <p:spPr>
          <a:xfrm>
            <a:off x="3474720" y="3493008"/>
            <a:ext cx="2194560" cy="914400"/>
          </a:xfrm>
          <a:prstGeom prst="rect">
            <a:avLst/>
          </a:prstGeom>
          <a:noFill/>
          <a:ln/>
        </p:spPr>
        <p:txBody>
          <a:bodyPr wrap="square" lIns="0" tIns="0" rIns="0" bIns="0" rtlCol="0" anchor="t"/>
          <a:lstStyle/>
          <a:p>
            <a:pPr indent="0" marL="0">
              <a:buNone/>
            </a:pPr>
            <a:r>
              <a:rPr lang="en-US" sz="1300" dirty="0">
                <a:solidFill>
                  <a:schemeClr val="bg1"/>
                </a:solidFill>
              </a:rPr>
              <a:t>128 px for stud details: plate 2×2 vs 2×2 with 2 studs is still 13 errors.</a:t>
            </a:r>
            <a:endParaRPr lang="en-US" sz="1300" dirty="0"/>
          </a:p>
        </p:txBody>
      </p:sp>
      <p:sp>
        <p:nvSpPr>
          <p:cNvPr id="33" name="Next step card 6"/>
          <p:cNvSpPr/>
          <p:nvPr/>
        </p:nvSpPr>
        <p:spPr>
          <a:xfrm>
            <a:off x="6126480" y="2926080"/>
            <a:ext cx="2560320" cy="1600200"/>
          </a:xfrm>
          <a:prstGeom prst="roundRect">
            <a:avLst>
              <a:gd name="adj" fmla="val 4571"/>
            </a:avLst>
          </a:prstGeom>
          <a:solidFill>
            <a:schemeClr val="bg1">
              <a:alpha val="10000"/>
            </a:schemeClr>
          </a:solidFill>
          <a:ln w="12700">
            <a:solidFill>
              <a:schemeClr val="bg1">
                <a:alpha val="0"/>
              </a:schemeClr>
            </a:solidFill>
            <a:prstDash val="solid"/>
          </a:ln>
        </p:spPr>
      </p:sp>
      <p:sp>
        <p:nvSpPr>
          <p:cNvPr id="34" name="Next step icon 6"/>
          <p:cNvSpPr/>
          <p:nvPr/>
        </p:nvSpPr>
        <p:spPr>
          <a:xfrm>
            <a:off x="6309360" y="3127248"/>
            <a:ext cx="457200" cy="182880"/>
          </a:xfrm>
          <a:prstGeom prst="rect">
            <a:avLst/>
          </a:prstGeom>
          <a:solidFill>
            <a:schemeClr val="accent2"/>
          </a:solidFill>
          <a:ln w="12700">
            <a:solidFill>
              <a:schemeClr val="accent2"/>
            </a:solidFill>
            <a:prstDash val="solid"/>
          </a:ln>
        </p:spPr>
      </p:sp>
      <p:sp>
        <p:nvSpPr>
          <p:cNvPr id="35" name="Next step icon 6 stud 1"/>
          <p:cNvSpPr/>
          <p:nvPr/>
        </p:nvSpPr>
        <p:spPr>
          <a:xfrm>
            <a:off x="6366967" y="3161995"/>
            <a:ext cx="113386" cy="113386"/>
          </a:xfrm>
          <a:prstGeom prst="ellipse">
            <a:avLst/>
          </a:prstGeom>
          <a:solidFill>
            <a:schemeClr val="bg1">
              <a:alpha val="28000"/>
            </a:schemeClr>
          </a:solidFill>
          <a:ln w="12700">
            <a:solidFill>
              <a:schemeClr val="bg1">
                <a:alpha val="0"/>
              </a:schemeClr>
            </a:solidFill>
            <a:prstDash val="solid"/>
          </a:ln>
        </p:spPr>
      </p:sp>
      <p:sp>
        <p:nvSpPr>
          <p:cNvPr id="36" name="Next step icon 6 stud 2"/>
          <p:cNvSpPr/>
          <p:nvPr/>
        </p:nvSpPr>
        <p:spPr>
          <a:xfrm>
            <a:off x="6595567" y="3161995"/>
            <a:ext cx="113386" cy="113386"/>
          </a:xfrm>
          <a:prstGeom prst="ellipse">
            <a:avLst/>
          </a:prstGeom>
          <a:solidFill>
            <a:schemeClr val="bg1">
              <a:alpha val="28000"/>
            </a:schemeClr>
          </a:solidFill>
          <a:ln w="12700">
            <a:solidFill>
              <a:schemeClr val="bg1">
                <a:alpha val="0"/>
              </a:schemeClr>
            </a:solidFill>
            <a:prstDash val="solid"/>
          </a:ln>
        </p:spPr>
      </p:sp>
      <p:sp>
        <p:nvSpPr>
          <p:cNvPr id="37" name="Text 35"/>
          <p:cNvSpPr txBox="1"/>
          <p:nvPr/>
        </p:nvSpPr>
        <p:spPr>
          <a:xfrm>
            <a:off x="6876288" y="3054096"/>
            <a:ext cx="1645920" cy="329184"/>
          </a:xfrm>
          <a:prstGeom prst="rect">
            <a:avLst/>
          </a:prstGeom>
          <a:noFill/>
          <a:ln/>
        </p:spPr>
        <p:txBody>
          <a:bodyPr wrap="square" lIns="0" tIns="0" rIns="0" bIns="0" rtlCol="0" anchor="ctr"/>
          <a:lstStyle/>
          <a:p>
            <a:pPr indent="0" marL="0">
              <a:buNone/>
            </a:pPr>
            <a:r>
              <a:rPr lang="en-US" sz="1500" b="1" dirty="0">
                <a:solidFill>
                  <a:schemeClr val="accent2"/>
                </a:solidFill>
              </a:rPr>
              <a:t>Confidence</a:t>
            </a:r>
            <a:endParaRPr lang="en-US" sz="1500" dirty="0"/>
          </a:p>
        </p:txBody>
      </p:sp>
      <p:sp>
        <p:nvSpPr>
          <p:cNvPr id="38" name="Text 36"/>
          <p:cNvSpPr txBox="1"/>
          <p:nvPr/>
        </p:nvSpPr>
        <p:spPr>
          <a:xfrm>
            <a:off x="6309360" y="3493008"/>
            <a:ext cx="2194560" cy="914400"/>
          </a:xfrm>
          <a:prstGeom prst="rect">
            <a:avLst/>
          </a:prstGeom>
          <a:noFill/>
          <a:ln/>
        </p:spPr>
        <p:txBody>
          <a:bodyPr wrap="square" lIns="0" tIns="0" rIns="0" bIns="0" rtlCol="0" anchor="t"/>
          <a:lstStyle/>
          <a:p>
            <a:pPr indent="0" marL="0">
              <a:buNone/>
            </a:pPr>
            <a:r>
              <a:rPr lang="en-US" sz="1300" dirty="0">
                <a:solidFill>
                  <a:schemeClr val="bg1"/>
                </a:solidFill>
              </a:rPr>
              <a:t>Model says 81 % sure but is right 95 % of the time – calibrate before flagging bricks.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LEGO Progress">
  <a:themeElements>
    <a:clrScheme name="LEGO Progress">
      <a:dk1>
        <a:srgbClr val="1E2530"/>
      </a:dk1>
      <a:lt1>
        <a:srgbClr val="FFFFFF"/>
      </a:lt1>
      <a:dk2>
        <a:srgbClr val="26333F"/>
      </a:dk2>
      <a:lt2>
        <a:srgbClr val="EEF1F4"/>
      </a:lt2>
      <a:accent1>
        <a:srgbClr val="D62828"/>
      </a:accent1>
      <a:accent2>
        <a:srgbClr val="F4B400"/>
      </a:accent2>
      <a:accent3>
        <a:srgbClr val="1F6FB2"/>
      </a:accent3>
      <a:accent4>
        <a:srgbClr val="7A8794"/>
      </a:accent4>
      <a:accent5>
        <a:srgbClr val="2E8B57"/>
      </a:accent5>
      <a:accent6>
        <a:srgbClr val="B8C1CA"/>
      </a:accent6>
      <a:hlink>
        <a:srgbClr val="1F6FB2"/>
      </a:hlink>
      <a:folHlink>
        <a:srgbClr val="6B4FA0"/>
      </a:folHlink>
    </a:clrScheme>
    <a:fontScheme name="LEGO Progres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LEGO Brick Recognition – Progress update: shape classifier v0</dc:title>
  <dc:subject>PptxGenJS Presentation</dc:subject>
  <dc:creator>Gruppe 2</dc:creator>
  <cp:lastModifiedBy>Gruppe 2</cp:lastModifiedBy>
  <cp:revision>1</cp:revision>
  <dcterms:created xsi:type="dcterms:W3CDTF">2026-10-29T17:21:59Z</dcterms:created>
  <dcterms:modified xsi:type="dcterms:W3CDTF">2026-10-29T17:21:59Z</dcterms:modified>
</cp:coreProperties>
</file>